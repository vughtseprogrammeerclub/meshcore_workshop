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19.png" ContentType="image/png"/>
  <Override PartName="/ppt/media/image1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1a2a36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dt" idx="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ft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sldNum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E600739-9605-4997-84B9-474D7CFA81A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14282D2-7B57-423A-AE30-5C0799601C1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87050EB-6908-477E-BCC1-877F7F677D5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502D31A-B8F3-4099-B691-E005F37483E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E4E84BA-820F-4273-AD8E-61602271F21C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515C7ED-9F8A-43AC-9BAC-22E7C387201B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CB1EB84-B1C9-4A8B-A3C1-57443D0774D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7D9A8D9-6912-4D0E-BF12-49496130A74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966F106-3E8D-4316-BD04-DA012C7E165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28FE667-DC05-4357-871B-6AD8AD243DA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6248A4C-2480-4615-AEBD-4801E6A497B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48640" y="137160"/>
            <a:ext cx="8229240" cy="402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3E97B8F-39C4-4E84-94E5-B84A3AC7051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34272FB-9715-41BE-B243-D58102AD8BCC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D9C918B-8655-494A-9BF6-3A3EC6673E65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703370-085F-4F27-9FA3-8A1F87457B1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C8CF815-9309-4EA7-A9C5-178D255B9F59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548640" y="137160"/>
            <a:ext cx="8229240" cy="402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6E1698B-F9EF-4D40-9650-7501A747C2F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A5BCA4E-149F-435C-B651-2FA32D36304F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D57A53F-1632-44F4-A5B5-BF4BCD6F6657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B8A5062-8D60-47BB-9B5D-B249E0EFA3CC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B3625BD-A4BE-4FC5-9E82-80ECDBA80F47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FB0C693-6C42-463D-AC40-2C5BFA06912C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6F76EBA-04C2-4C78-8F3A-64FBB51149DD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7C14A2-58EB-41A2-9E87-CF6B633F38C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D5EB77-01C8-4CD9-AD61-D6BEB65ADCAD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1CAFD3-551A-4B20-824C-E4746D1C472E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26A126-4DDB-437E-997D-85B4B04CD9AF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7C010F-49C3-4BA4-8CD0-0D3608E0B856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48640" y="137160"/>
            <a:ext cx="8229240" cy="402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945BF1-07DF-43B2-927B-A3D1D76FAACF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94C493-79D7-4F79-A419-338DFAD61434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E515A3-09A3-4DE2-8462-9BB10F875497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CE6C52-A8AA-495C-BB77-A2E6657BA628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9BFE4C-F969-4C68-8C02-A07F2DD749C4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241DC3-8CCF-4C30-8C48-52228E261A6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AFE46-4135-4116-99EF-5F7526729BB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/home/claude/vpc-deck/square.png"/>
          <p:cNvPicPr/>
          <p:nvPr/>
        </p:nvPicPr>
        <p:blipFill>
          <a:blip r:embed="rId2"/>
          <a:stretch/>
        </p:blipFill>
        <p:spPr>
          <a:xfrm>
            <a:off x="6858000" y="1828800"/>
            <a:ext cx="4937400" cy="24357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1a2a36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rgbClr val="1a2a36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1a2a36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1a2a36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2191400" cy="1142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Image 0" descr="/home/claude/vpc-deck/banner.png"/>
          <p:cNvPicPr/>
          <p:nvPr/>
        </p:nvPicPr>
        <p:blipFill>
          <a:blip r:embed="rId2"/>
          <a:stretch/>
        </p:blipFill>
        <p:spPr>
          <a:xfrm>
            <a:off x="8915400" y="118800"/>
            <a:ext cx="2969640" cy="89568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Click to edit </a:t>
            </a: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the title text </a:t>
            </a: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format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4864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accent5"/>
                </a:solidFill>
                <a:latin typeface="Calibri"/>
              </a:rPr>
              <a:t>MeshCore · Avond 1 · Vughtse Programmeer Club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1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5667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761CF8-FF0F-4EF5-A347-E29898CB9053}" type="slidenum">
              <a:rPr b="0" lang="en-US" sz="1100" spc="-1" strike="noStrike">
                <a:solidFill>
                  <a:srgbClr val="556675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1a2a36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1a2a36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3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12191400" cy="1142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Image 0" descr="/home/claude/vpc-deck/banner.png"/>
          <p:cNvPicPr/>
          <p:nvPr/>
        </p:nvPicPr>
        <p:blipFill>
          <a:blip r:embed="rId2"/>
          <a:stretch/>
        </p:blipFill>
        <p:spPr>
          <a:xfrm>
            <a:off x="8915400" y="118800"/>
            <a:ext cx="2969640" cy="89568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Click to edit </a:t>
            </a: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the title text </a:t>
            </a: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format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accent6"/>
                </a:solidFill>
                <a:latin typeface="Calibri"/>
              </a:rPr>
              <a:t>MeshCore · Avond 1 · Vughtse Programmeer Club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2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bfd6ec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F42613-D2E6-4EBB-9B9C-63A44975BA83}" type="slidenum">
              <a:rPr b="0" lang="en-US" sz="1100" spc="-1" strike="noStrike">
                <a:solidFill>
                  <a:srgbClr val="bfd6ec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1a2a36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1a2a36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1a2a36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a2a36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1a2a36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25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Avond-label"/>
          <p:cNvSpPr/>
          <p:nvPr/>
        </p:nvSpPr>
        <p:spPr>
          <a:xfrm>
            <a:off x="731520" y="1325880"/>
            <a:ext cx="2285640" cy="4568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31520" y="13258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ffffff"/>
                </a:solidFill>
                <a:latin typeface="Calibri"/>
              </a:rPr>
              <a:t>AVOND 1 VAN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731520" y="1965960"/>
            <a:ext cx="5943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MeshCore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731520" y="3017520"/>
            <a:ext cx="6034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Introductie &amp; eerste connectie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731520" y="3886200"/>
            <a:ext cx="6034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Dinsdag 27 oktober · 20:00 – 21:30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731520" y="4434840"/>
            <a:ext cx="6034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ef4fa"/>
                </a:solidFill>
                <a:latin typeface="Calibri"/>
              </a:rPr>
              <a:t>Berichten sturen zonder internet en zonder mobiel netwerk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85800" y="5798520"/>
            <a:ext cx="8001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ffffff"/>
                </a:solidFill>
                <a:latin typeface="Arial"/>
              </a:rPr>
              <a:t>WiFI: SSID: AccessRoel     Password: 759!87527</a:t>
            </a:r>
            <a:endParaRPr b="1" lang="en-US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MeshCore vs. Meshtastic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4864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accent5"/>
                </a:solidFill>
                <a:latin typeface="Calibri"/>
              </a:rPr>
              <a:t>Twee bekende mesh-protocollen — wat is het verschil?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Kaart Meshtastic"/>
          <p:cNvSpPr/>
          <p:nvPr/>
        </p:nvSpPr>
        <p:spPr>
          <a:xfrm>
            <a:off x="548640" y="1828800"/>
            <a:ext cx="5440320" cy="379440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39" name="Meshtastic badge"/>
          <p:cNvSpPr/>
          <p:nvPr/>
        </p:nvSpPr>
        <p:spPr>
          <a:xfrm>
            <a:off x="822960" y="2103120"/>
            <a:ext cx="548280" cy="548280"/>
          </a:xfrm>
          <a:prstGeom prst="ellipse">
            <a:avLst/>
          </a:pr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40" name="Meshtastic icoon" descr="Meshtastic"/>
          <p:cNvPicPr/>
          <p:nvPr/>
        </p:nvPicPr>
        <p:blipFill>
          <a:blip r:embed="rId1"/>
          <a:stretch/>
        </p:blipFill>
        <p:spPr>
          <a:xfrm>
            <a:off x="960120" y="22402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41" name="Text 4"/>
          <p:cNvSpPr/>
          <p:nvPr/>
        </p:nvSpPr>
        <p:spPr>
          <a:xfrm>
            <a:off x="1554480" y="21031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a2a36"/>
                </a:solidFill>
                <a:latin typeface="Calibri"/>
              </a:rPr>
              <a:t>Meshtastic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868680" y="2971800"/>
            <a:ext cx="4800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Al langer bekend, grote wereldwijde community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Ondersteunt veel (ook oudere) LoRa-hardware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Gericht op eenvoud en brede compatibiliteit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Berichten vaak leesbaar voor iedereen op een kanaal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Kaart MeshCore"/>
          <p:cNvSpPr/>
          <p:nvPr/>
        </p:nvSpPr>
        <p:spPr>
          <a:xfrm>
            <a:off x="6199560" y="1828800"/>
            <a:ext cx="5440320" cy="3794400"/>
          </a:xfrm>
          <a:prstGeom prst="roundRect">
            <a:avLst>
              <a:gd name="adj" fmla="val 2892"/>
            </a:avLst>
          </a:prstGeom>
          <a:solidFill>
            <a:schemeClr val="bg1"/>
          </a:solidFill>
          <a:ln w="31750">
            <a:solidFill>
              <a:srgbClr val="0c66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44" name="MeshCore badge"/>
          <p:cNvSpPr/>
          <p:nvPr/>
        </p:nvSpPr>
        <p:spPr>
          <a:xfrm>
            <a:off x="6473880" y="210312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45" name="MeshCore icoon" descr="MeshCore"/>
          <p:cNvPicPr/>
          <p:nvPr/>
        </p:nvPicPr>
        <p:blipFill>
          <a:blip r:embed="rId2"/>
          <a:stretch/>
        </p:blipFill>
        <p:spPr>
          <a:xfrm>
            <a:off x="6611040" y="22402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46" name="Text 8"/>
          <p:cNvSpPr/>
          <p:nvPr/>
        </p:nvSpPr>
        <p:spPr>
          <a:xfrm>
            <a:off x="7205400" y="21031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1"/>
                </a:solidFill>
                <a:latin typeface="Calibri"/>
              </a:rPr>
              <a:t>MeshCore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6519600" y="2971800"/>
            <a:ext cx="4800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1a2a36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a36"/>
                </a:solidFill>
                <a:latin typeface="Calibri"/>
              </a:rPr>
              <a:t>Nieuwer protocol, groeiende community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1a2a36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a36"/>
                </a:solidFill>
                <a:latin typeface="Calibri"/>
              </a:rPr>
              <a:t>Sterke focus op end-to-end versleuteling tussen contacten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1a2a36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a36"/>
                </a:solidFill>
                <a:latin typeface="Calibri"/>
              </a:rPr>
              <a:t>Flexibele node-rollen: companion, repeater, room server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1a2a36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a2a36"/>
                </a:solidFill>
                <a:latin typeface="Calibri"/>
              </a:rPr>
              <a:t>Modernere routing (o.a. path hashes) voor grotere netwerken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cheidingslijn"/>
          <p:cNvSpPr/>
          <p:nvPr/>
        </p:nvSpPr>
        <p:spPr>
          <a:xfrm>
            <a:off x="548640" y="5852160"/>
            <a:ext cx="11091600" cy="360"/>
          </a:xfrm>
          <a:prstGeom prst="line">
            <a:avLst/>
          </a:prstGeom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6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5667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BFF695-C35F-48E8-BA1A-E1BFE988B943}" type="slidenum">
              <a:rPr b="0" lang="en-US" sz="1100" spc="-1" strike="noStrike">
                <a:solidFill>
                  <a:srgbClr val="556675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Werkt zonder internet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accent6"/>
                </a:solidFill>
                <a:latin typeface="Calibri"/>
              </a:rPr>
              <a:t>Daarom is MeshCore zo waardevol bij noodsituaties en stroomuitval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Punt 1 badge"/>
          <p:cNvSpPr/>
          <p:nvPr/>
        </p:nvSpPr>
        <p:spPr>
          <a:xfrm>
            <a:off x="548640" y="2011680"/>
            <a:ext cx="639720" cy="6397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53" name="Punt 1 icoon" descr="Punt 1"/>
          <p:cNvPicPr/>
          <p:nvPr/>
        </p:nvPicPr>
        <p:blipFill>
          <a:blip r:embed="rId1"/>
          <a:stretch/>
        </p:blipFill>
        <p:spPr>
          <a:xfrm>
            <a:off x="708840" y="217188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54" name="Text 3"/>
          <p:cNvSpPr/>
          <p:nvPr/>
        </p:nvSpPr>
        <p:spPr>
          <a:xfrm>
            <a:off x="1463040" y="19933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Geen internet of mobiel netwerk nodig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1463040" y="23774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Calibri"/>
              </a:rPr>
              <a:t>Apparaten communiceren rechtstreeks via LoRa-radio, ook als telecom-netwerken uitvallen.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Punt 2 badge"/>
          <p:cNvSpPr/>
          <p:nvPr/>
        </p:nvSpPr>
        <p:spPr>
          <a:xfrm>
            <a:off x="548640" y="3063240"/>
            <a:ext cx="639720" cy="6397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57" name="Punt 2 icoon" descr="Punt 2"/>
          <p:cNvPicPr/>
          <p:nvPr/>
        </p:nvPicPr>
        <p:blipFill>
          <a:blip r:embed="rId2"/>
          <a:stretch/>
        </p:blipFill>
        <p:spPr>
          <a:xfrm>
            <a:off x="708840" y="32234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58" name="Text 6"/>
          <p:cNvSpPr/>
          <p:nvPr/>
        </p:nvSpPr>
        <p:spPr>
          <a:xfrm>
            <a:off x="1463040" y="30448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Werkt op batterij of powerbank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1463040" y="3429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Calibri"/>
              </a:rPr>
              <a:t>Ook bij langdurige stroomuitval blijft communicatie mogelijk, onafhankelijk van het elektriciteitsnet.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Punt 3 badge"/>
          <p:cNvSpPr/>
          <p:nvPr/>
        </p:nvSpPr>
        <p:spPr>
          <a:xfrm>
            <a:off x="548640" y="4114800"/>
            <a:ext cx="639720" cy="6397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61" name="Punt 3 icoon" descr="Punt 3"/>
          <p:cNvPicPr/>
          <p:nvPr/>
        </p:nvPicPr>
        <p:blipFill>
          <a:blip r:embed="rId3"/>
          <a:stretch/>
        </p:blipFill>
        <p:spPr>
          <a:xfrm>
            <a:off x="708840" y="42750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62" name="Text 9"/>
          <p:cNvSpPr/>
          <p:nvPr/>
        </p:nvSpPr>
        <p:spPr>
          <a:xfrm>
            <a:off x="1463040" y="40964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Geschikt voor noodsituaties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1463040" y="44805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Calibri"/>
              </a:rPr>
              <a:t>Rampen, extreem weer of grote storingen: een mesh-netwerk blijft functioneren als andere infrastructuur wegvalt.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unt 4 badge"/>
          <p:cNvSpPr/>
          <p:nvPr/>
        </p:nvSpPr>
        <p:spPr>
          <a:xfrm>
            <a:off x="548640" y="5166360"/>
            <a:ext cx="639720" cy="6397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65" name="Punt 4 icoon" descr="Punt 4"/>
          <p:cNvPicPr/>
          <p:nvPr/>
        </p:nvPicPr>
        <p:blipFill>
          <a:blip r:embed="rId4"/>
          <a:stretch/>
        </p:blipFill>
        <p:spPr>
          <a:xfrm>
            <a:off x="708840" y="532656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66" name="Text 12"/>
          <p:cNvSpPr/>
          <p:nvPr/>
        </p:nvSpPr>
        <p:spPr>
          <a:xfrm>
            <a:off x="1463040" y="5148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Ook handig in afgelegen gebieden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1463040" y="55321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6"/>
                </a:solidFill>
                <a:latin typeface="Calibri"/>
              </a:rPr>
              <a:t>Wandelen, kamperen of evenementen zonder bereik, communiceer alsnog met mensen in de buurt.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ldNum" idx="7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bfd6ec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C5D554-702F-4A53-B196-34DE672438F6}" type="slidenum">
              <a:rPr b="0" lang="en-US" sz="1100" spc="-1" strike="noStrike">
                <a:solidFill>
                  <a:srgbClr val="bfd6ec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Wat is MeshCore?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4864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accent5"/>
                </a:solidFill>
                <a:latin typeface="Calibri"/>
              </a:rPr>
              <a:t>Een mesh-netwerk in gewone taal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Kenmerk 1 badge"/>
          <p:cNvSpPr/>
          <p:nvPr/>
        </p:nvSpPr>
        <p:spPr>
          <a:xfrm>
            <a:off x="548640" y="1965960"/>
            <a:ext cx="731160" cy="7311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72" name="Kenmerk 1 icoon" descr="Kenmerk 1"/>
          <p:cNvPicPr/>
          <p:nvPr/>
        </p:nvPicPr>
        <p:blipFill>
          <a:blip r:embed="rId1"/>
          <a:stretch/>
        </p:blipFill>
        <p:spPr>
          <a:xfrm>
            <a:off x="731520" y="21488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73" name="Text 3"/>
          <p:cNvSpPr/>
          <p:nvPr/>
        </p:nvSpPr>
        <p:spPr>
          <a:xfrm>
            <a:off x="1508760" y="192024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2a36"/>
                </a:solidFill>
                <a:latin typeface="Calibri"/>
              </a:rPr>
              <a:t>Geen internet nodig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1508760" y="233172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5"/>
                </a:solidFill>
                <a:latin typeface="Calibri"/>
              </a:rPr>
              <a:t>Apparaten praten rechtstreeks met elkaar via LoRa-radiosignalen.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Kenmerk 2 badge"/>
          <p:cNvSpPr/>
          <p:nvPr/>
        </p:nvSpPr>
        <p:spPr>
          <a:xfrm>
            <a:off x="548640" y="3337560"/>
            <a:ext cx="731160" cy="7311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76" name="Kenmerk 2 icoon" descr="Kenmerk 2"/>
          <p:cNvPicPr/>
          <p:nvPr/>
        </p:nvPicPr>
        <p:blipFill>
          <a:blip r:embed="rId2"/>
          <a:stretch/>
        </p:blipFill>
        <p:spPr>
          <a:xfrm>
            <a:off x="731520" y="35204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77" name="Text 6"/>
          <p:cNvSpPr/>
          <p:nvPr/>
        </p:nvSpPr>
        <p:spPr>
          <a:xfrm>
            <a:off x="1508760" y="329184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2a36"/>
                </a:solidFill>
                <a:latin typeface="Calibri"/>
              </a:rPr>
              <a:t>Berichten springen door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1508760" y="370332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5"/>
                </a:solidFill>
                <a:latin typeface="Calibri"/>
              </a:rPr>
              <a:t>Elk apparaat ("node") kan een bericht doorsturen naar de volgende, tot het aankomt.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Kenmerk 3 badge"/>
          <p:cNvSpPr/>
          <p:nvPr/>
        </p:nvSpPr>
        <p:spPr>
          <a:xfrm>
            <a:off x="548640" y="4709160"/>
            <a:ext cx="731160" cy="7311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80" name="Kenmerk 3 icoon" descr="Kenmerk 3"/>
          <p:cNvPicPr/>
          <p:nvPr/>
        </p:nvPicPr>
        <p:blipFill>
          <a:blip r:embed="rId3"/>
          <a:stretch/>
        </p:blipFill>
        <p:spPr>
          <a:xfrm>
            <a:off x="731520" y="489204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81" name="Text 9"/>
          <p:cNvSpPr/>
          <p:nvPr/>
        </p:nvSpPr>
        <p:spPr>
          <a:xfrm>
            <a:off x="1508760" y="466344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2a36"/>
                </a:solidFill>
                <a:latin typeface="Calibri"/>
              </a:rPr>
              <a:t>Community-gedreven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1508760" y="507492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5"/>
                </a:solidFill>
                <a:latin typeface="Calibri"/>
              </a:rPr>
              <a:t>Open source, gebouwd en uitgebreid door gebruikers wereldwijd — ook in Nederland.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Kaart context"/>
          <p:cNvSpPr/>
          <p:nvPr/>
        </p:nvSpPr>
        <p:spPr>
          <a:xfrm>
            <a:off x="7086600" y="1828800"/>
            <a:ext cx="4553280" cy="420588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7406640" y="205740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accent1"/>
                </a:solidFill>
                <a:latin typeface="Calibri"/>
              </a:rPr>
              <a:t>Kort: en Meshtastic dan?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7406640" y="2606040"/>
            <a:ext cx="4023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a36"/>
                </a:solidFill>
                <a:latin typeface="Calibri"/>
              </a:rPr>
              <a:t>MeshCore </a:t>
            </a:r>
            <a:r>
              <a:rPr b="0" lang="en-US" sz="1500" spc="-1" strike="noStrike">
                <a:solidFill>
                  <a:schemeClr val="accent5"/>
                </a:solidFill>
                <a:latin typeface="Calibri"/>
              </a:rPr>
              <a:t>is een ander, nieuwer protocol met eigen keuzes in routing en versleuteling.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7406640" y="3474720"/>
            <a:ext cx="4023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a36"/>
                </a:solidFill>
                <a:latin typeface="Calibri"/>
              </a:rPr>
              <a:t>Zie ook </a:t>
            </a:r>
            <a:r>
              <a:rPr b="0" lang="en-US" sz="1500" spc="-1" strike="noStrike">
                <a:solidFill>
                  <a:schemeClr val="accent5"/>
                </a:solidFill>
                <a:latin typeface="Calibri"/>
              </a:rPr>
              <a:t>de vergelijkingsslide hiervoor voor de belangrijkste verschillen.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cheidingslijn"/>
          <p:cNvSpPr/>
          <p:nvPr/>
        </p:nvSpPr>
        <p:spPr>
          <a:xfrm>
            <a:off x="7406640" y="4343400"/>
            <a:ext cx="3931920" cy="360"/>
          </a:xfrm>
          <a:prstGeom prst="line">
            <a:avLst/>
          </a:prstGeom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7406640" y="44805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2a36"/>
                </a:solidFill>
                <a:latin typeface="Calibri"/>
              </a:rPr>
              <a:t>Waarom mensen dit leuk vinden: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7406640" y="4846320"/>
            <a:ext cx="4023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>
              <a:lnSpc>
                <a:spcPct val="100000"/>
              </a:lnSpc>
              <a:spcAft>
                <a:spcPts val="400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accent5"/>
                </a:solidFill>
                <a:latin typeface="Calibri"/>
              </a:rPr>
              <a:t>Noodcommunicatie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>
              <a:lnSpc>
                <a:spcPct val="100000"/>
              </a:lnSpc>
              <a:spcAft>
                <a:spcPts val="400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accent5"/>
                </a:solidFill>
                <a:latin typeface="Calibri"/>
              </a:rPr>
              <a:t>Hobby &amp; techniek uitproberen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03040" indent="-203040">
              <a:lnSpc>
                <a:spcPct val="100000"/>
              </a:lnSpc>
              <a:spcAft>
                <a:spcPts val="400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accent5"/>
                </a:solidFill>
                <a:latin typeface="Calibri"/>
              </a:rPr>
              <a:t>Privacy — geen abonnement, geen cloud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8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5667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7AB1E2-633F-40F0-A15D-612A8D0BB118}" type="slidenum">
              <a:rPr b="0" lang="en-US" sz="1100" spc="-1" strike="noStrike">
                <a:solidFill>
                  <a:srgbClr val="556675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De basis-concepten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54864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accent5"/>
                </a:solidFill>
                <a:latin typeface="Calibri"/>
              </a:rPr>
              <a:t>Node, companion, repeater en room server — en hoe een bericht zijn weg vindt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Kaart Node"/>
          <p:cNvSpPr/>
          <p:nvPr/>
        </p:nvSpPr>
        <p:spPr>
          <a:xfrm>
            <a:off x="548640" y="1828800"/>
            <a:ext cx="2559960" cy="21027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94" name="Node badge"/>
          <p:cNvSpPr/>
          <p:nvPr/>
        </p:nvSpPr>
        <p:spPr>
          <a:xfrm>
            <a:off x="777240" y="203004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195" name="Node icoon" descr="Node"/>
          <p:cNvPicPr/>
          <p:nvPr/>
        </p:nvPicPr>
        <p:blipFill>
          <a:blip r:embed="rId1"/>
          <a:stretch/>
        </p:blipFill>
        <p:spPr>
          <a:xfrm>
            <a:off x="914400" y="2167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96" name="Text 4"/>
          <p:cNvSpPr/>
          <p:nvPr/>
        </p:nvSpPr>
        <p:spPr>
          <a:xfrm>
            <a:off x="777240" y="26974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2a36"/>
                </a:solidFill>
                <a:latin typeface="Calibri"/>
              </a:rPr>
              <a:t>Node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777240" y="309060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5"/>
                </a:solidFill>
                <a:latin typeface="Calibri"/>
              </a:rPr>
              <a:t>Elk apparaat in het netwerk. Elke node kan berichten ontvangen én doorsturen.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Kaart Companion"/>
          <p:cNvSpPr/>
          <p:nvPr/>
        </p:nvSpPr>
        <p:spPr>
          <a:xfrm>
            <a:off x="3392280" y="1828800"/>
            <a:ext cx="2559960" cy="21027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199" name="Companion badge"/>
          <p:cNvSpPr/>
          <p:nvPr/>
        </p:nvSpPr>
        <p:spPr>
          <a:xfrm>
            <a:off x="3620880" y="203004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00" name="Companion icoon" descr="Companion"/>
          <p:cNvPicPr/>
          <p:nvPr/>
        </p:nvPicPr>
        <p:blipFill>
          <a:blip r:embed="rId2"/>
          <a:stretch/>
        </p:blipFill>
        <p:spPr>
          <a:xfrm>
            <a:off x="3758040" y="2167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01" name="Text 8"/>
          <p:cNvSpPr/>
          <p:nvPr/>
        </p:nvSpPr>
        <p:spPr>
          <a:xfrm>
            <a:off x="3620880" y="26974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2a36"/>
                </a:solidFill>
                <a:latin typeface="Calibri"/>
              </a:rPr>
              <a:t>Companion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3620880" y="309060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5"/>
                </a:solidFill>
                <a:latin typeface="Calibri"/>
              </a:rPr>
              <a:t>Jouw eigen node, gekoppeld aan je telefoon via Bluetooth. Hiermee chat je.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Kaart Repeater"/>
          <p:cNvSpPr/>
          <p:nvPr/>
        </p:nvSpPr>
        <p:spPr>
          <a:xfrm>
            <a:off x="6236280" y="1828800"/>
            <a:ext cx="2559960" cy="21027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04" name="Repeater badge"/>
          <p:cNvSpPr/>
          <p:nvPr/>
        </p:nvSpPr>
        <p:spPr>
          <a:xfrm>
            <a:off x="6464880" y="203004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05" name="Repeater icoon" descr="Repeater"/>
          <p:cNvPicPr/>
          <p:nvPr/>
        </p:nvPicPr>
        <p:blipFill>
          <a:blip r:embed="rId3"/>
          <a:stretch/>
        </p:blipFill>
        <p:spPr>
          <a:xfrm>
            <a:off x="6602040" y="2167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06" name="Text 12"/>
          <p:cNvSpPr/>
          <p:nvPr/>
        </p:nvSpPr>
        <p:spPr>
          <a:xfrm>
            <a:off x="6464880" y="26974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2a36"/>
                </a:solidFill>
                <a:latin typeface="Calibri"/>
              </a:rPr>
              <a:t>Repeater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6464880" y="309060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5"/>
                </a:solidFill>
                <a:latin typeface="Calibri"/>
              </a:rPr>
              <a:t>Een node die vooral berichten doorstuurt, om het bereik te vergroten.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Kaart Room Server"/>
          <p:cNvSpPr/>
          <p:nvPr/>
        </p:nvSpPr>
        <p:spPr>
          <a:xfrm>
            <a:off x="9079920" y="1828800"/>
            <a:ext cx="2559960" cy="21027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09" name="Room Server badge"/>
          <p:cNvSpPr/>
          <p:nvPr/>
        </p:nvSpPr>
        <p:spPr>
          <a:xfrm>
            <a:off x="9308520" y="203004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10" name="Room Server icoon" descr="Room Server"/>
          <p:cNvPicPr/>
          <p:nvPr/>
        </p:nvPicPr>
        <p:blipFill>
          <a:blip r:embed="rId4"/>
          <a:stretch/>
        </p:blipFill>
        <p:spPr>
          <a:xfrm>
            <a:off x="9445680" y="2167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11" name="Text 16"/>
          <p:cNvSpPr/>
          <p:nvPr/>
        </p:nvSpPr>
        <p:spPr>
          <a:xfrm>
            <a:off x="9308520" y="269748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2a36"/>
                </a:solidFill>
                <a:latin typeface="Calibri"/>
              </a:rPr>
              <a:t>Room Server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7"/>
          <p:cNvSpPr/>
          <p:nvPr/>
        </p:nvSpPr>
        <p:spPr>
          <a:xfrm>
            <a:off x="9308520" y="3090600"/>
            <a:ext cx="2102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5"/>
                </a:solidFill>
                <a:latin typeface="Calibri"/>
              </a:rPr>
              <a:t>Een soort prikbord: slaat berichten op, zodat je ze later kunt ophalen.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548640" y="41605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2a36"/>
                </a:solidFill>
                <a:latin typeface="Calibri"/>
              </a:rPr>
              <a:t>Flood-routing: de estafette-metafoor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verbinding 1"/>
          <p:cNvSpPr/>
          <p:nvPr/>
        </p:nvSpPr>
        <p:spPr>
          <a:xfrm>
            <a:off x="1645920" y="5212080"/>
            <a:ext cx="1783080" cy="360"/>
          </a:xfrm>
          <a:prstGeom prst="line">
            <a:avLst/>
          </a:prstGeom>
          <a:ln w="31750">
            <a:solidFill>
              <a:srgbClr val="3f8ad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15" name="verbinding 2"/>
          <p:cNvSpPr/>
          <p:nvPr/>
        </p:nvSpPr>
        <p:spPr>
          <a:xfrm>
            <a:off x="4069080" y="5212080"/>
            <a:ext cx="1783080" cy="360"/>
          </a:xfrm>
          <a:prstGeom prst="line">
            <a:avLst/>
          </a:prstGeom>
          <a:ln w="31750">
            <a:solidFill>
              <a:srgbClr val="3f8ad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16" name="verbinding 3"/>
          <p:cNvSpPr/>
          <p:nvPr/>
        </p:nvSpPr>
        <p:spPr>
          <a:xfrm>
            <a:off x="6492240" y="5212080"/>
            <a:ext cx="1783080" cy="360"/>
          </a:xfrm>
          <a:prstGeom prst="line">
            <a:avLst/>
          </a:prstGeom>
          <a:ln w="31750">
            <a:solidFill>
              <a:srgbClr val="3f8ad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17" name="verbinding 4"/>
          <p:cNvSpPr/>
          <p:nvPr/>
        </p:nvSpPr>
        <p:spPr>
          <a:xfrm>
            <a:off x="8915400" y="5212080"/>
            <a:ext cx="1783080" cy="360"/>
          </a:xfrm>
          <a:prstGeom prst="line">
            <a:avLst/>
          </a:prstGeom>
          <a:ln w="31750">
            <a:solidFill>
              <a:srgbClr val="3f8ad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18" name="node 1"/>
          <p:cNvSpPr/>
          <p:nvPr/>
        </p:nvSpPr>
        <p:spPr>
          <a:xfrm>
            <a:off x="1005840" y="4892040"/>
            <a:ext cx="639720" cy="639720"/>
          </a:xfrm>
          <a:prstGeom prst="ellipse">
            <a:avLst/>
          </a:prstGeom>
          <a:solidFill>
            <a:schemeClr val="accent2"/>
          </a:solidFill>
          <a:ln w="31750">
            <a:solidFill>
              <a:srgbClr val="de4d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19" name="node 2"/>
          <p:cNvSpPr/>
          <p:nvPr/>
        </p:nvSpPr>
        <p:spPr>
          <a:xfrm>
            <a:off x="3429000" y="4892040"/>
            <a:ext cx="639720" cy="639720"/>
          </a:xfrm>
          <a:prstGeom prst="ellipse">
            <a:avLst/>
          </a:prstGeom>
          <a:solidFill>
            <a:schemeClr val="bg1"/>
          </a:solidFill>
          <a:ln w="31750">
            <a:solidFill>
              <a:srgbClr val="0c66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20" name="node 3"/>
          <p:cNvSpPr/>
          <p:nvPr/>
        </p:nvSpPr>
        <p:spPr>
          <a:xfrm>
            <a:off x="5852160" y="4892040"/>
            <a:ext cx="639720" cy="639720"/>
          </a:xfrm>
          <a:prstGeom prst="ellipse">
            <a:avLst/>
          </a:prstGeom>
          <a:solidFill>
            <a:schemeClr val="bg1"/>
          </a:solidFill>
          <a:ln w="31750">
            <a:solidFill>
              <a:srgbClr val="0c66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21" name="node 4"/>
          <p:cNvSpPr/>
          <p:nvPr/>
        </p:nvSpPr>
        <p:spPr>
          <a:xfrm>
            <a:off x="8275320" y="4892040"/>
            <a:ext cx="639720" cy="639720"/>
          </a:xfrm>
          <a:prstGeom prst="ellipse">
            <a:avLst/>
          </a:prstGeom>
          <a:solidFill>
            <a:schemeClr val="bg1"/>
          </a:solidFill>
          <a:ln w="31750">
            <a:solidFill>
              <a:srgbClr val="0c66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22" name="node 5"/>
          <p:cNvSpPr/>
          <p:nvPr/>
        </p:nvSpPr>
        <p:spPr>
          <a:xfrm>
            <a:off x="10698480" y="4892040"/>
            <a:ext cx="639720" cy="639720"/>
          </a:xfrm>
          <a:prstGeom prst="ellipse">
            <a:avLst/>
          </a:prstGeom>
          <a:solidFill>
            <a:schemeClr val="accent2"/>
          </a:solidFill>
          <a:ln w="31750">
            <a:solidFill>
              <a:srgbClr val="de4d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23" name="Text 28"/>
          <p:cNvSpPr/>
          <p:nvPr/>
        </p:nvSpPr>
        <p:spPr>
          <a:xfrm>
            <a:off x="640080" y="56052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5"/>
                </a:solidFill>
                <a:latin typeface="Calibri"/>
              </a:rPr>
              <a:t>Zender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9"/>
          <p:cNvSpPr/>
          <p:nvPr/>
        </p:nvSpPr>
        <p:spPr>
          <a:xfrm>
            <a:off x="3429000" y="5605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accent5"/>
                </a:solidFill>
                <a:latin typeface="Calibri"/>
              </a:rPr>
              <a:t>Repeaters sturen door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30"/>
          <p:cNvSpPr/>
          <p:nvPr/>
        </p:nvSpPr>
        <p:spPr>
          <a:xfrm>
            <a:off x="10332720" y="56052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5"/>
                </a:solidFill>
                <a:latin typeface="Calibri"/>
              </a:rPr>
              <a:t>Ontvanger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31"/>
          <p:cNvSpPr/>
          <p:nvPr/>
        </p:nvSpPr>
        <p:spPr>
          <a:xfrm>
            <a:off x="548640" y="598932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chemeClr val="accent5"/>
                </a:solidFill>
                <a:latin typeface="Calibri"/>
              </a:rPr>
              <a:t>Elke node stuurt het bericht door aan de volgende, tot het bij de bestemming aankomt.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ldNum" idx="9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5667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7BB060-CA81-4BBF-8ADD-D392D616DE59}" type="slidenum">
              <a:rPr b="0" lang="en-US" sz="1100" spc="-1" strike="noStrike">
                <a:solidFill>
                  <a:srgbClr val="556675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Wat heb je nodig?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54864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accent5"/>
                </a:solidFill>
                <a:latin typeface="Calibri"/>
              </a:rPr>
              <a:t>Hardware en software om mee te doen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Kaart Hardware"/>
          <p:cNvSpPr/>
          <p:nvPr/>
        </p:nvSpPr>
        <p:spPr>
          <a:xfrm>
            <a:off x="548640" y="1828800"/>
            <a:ext cx="5440320" cy="4114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31" name="Hardware badge"/>
          <p:cNvSpPr/>
          <p:nvPr/>
        </p:nvSpPr>
        <p:spPr>
          <a:xfrm>
            <a:off x="822960" y="2103120"/>
            <a:ext cx="566640" cy="5666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32" name="Hardware icoon" descr="Hardware"/>
          <p:cNvPicPr/>
          <p:nvPr/>
        </p:nvPicPr>
        <p:blipFill>
          <a:blip r:embed="rId1"/>
          <a:stretch/>
        </p:blipFill>
        <p:spPr>
          <a:xfrm>
            <a:off x="964800" y="2244960"/>
            <a:ext cx="282960" cy="282960"/>
          </a:xfrm>
          <a:prstGeom prst="rect">
            <a:avLst/>
          </a:prstGeom>
          <a:ln w="0">
            <a:noFill/>
          </a:ln>
        </p:spPr>
      </p:pic>
      <p:sp>
        <p:nvSpPr>
          <p:cNvPr id="233" name="Text 4"/>
          <p:cNvSpPr/>
          <p:nvPr/>
        </p:nvSpPr>
        <p:spPr>
          <a:xfrm>
            <a:off x="1554480" y="2103120"/>
            <a:ext cx="365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a2a36"/>
                </a:solidFill>
                <a:latin typeface="Calibri"/>
              </a:rPr>
              <a:t>Hardware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868680" y="2971800"/>
            <a:ext cx="4800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chemeClr val="accent5"/>
                </a:solidFill>
                <a:latin typeface="Calibri"/>
              </a:rPr>
              <a:t>Een LoRa-board, bv. Heltec WiFi LoRa 32 V3 of V4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868 MHz-versie — dat is de juiste band voor Nederland/EU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USB-C </a:t>
            </a:r>
            <a:r>
              <a:rPr b="1" lang="en-US" sz="1600" spc="-1" strike="noStrike">
                <a:solidFill>
                  <a:schemeClr val="accent5"/>
                </a:solidFill>
                <a:latin typeface="Calibri"/>
              </a:rPr>
              <a:t>data-kabel</a:t>
            </a: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 om te flashen en aan te sluiten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cheidingslijn"/>
          <p:cNvSpPr/>
          <p:nvPr/>
        </p:nvSpPr>
        <p:spPr>
          <a:xfrm>
            <a:off x="868680" y="4937760"/>
            <a:ext cx="4800600" cy="360"/>
          </a:xfrm>
          <a:prstGeom prst="line">
            <a:avLst/>
          </a:prstGeom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868680" y="5120640"/>
            <a:ext cx="4800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37" name="Kaart Software"/>
          <p:cNvSpPr/>
          <p:nvPr/>
        </p:nvSpPr>
        <p:spPr>
          <a:xfrm>
            <a:off x="6199560" y="1828800"/>
            <a:ext cx="5440320" cy="41144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38" name="Software badge"/>
          <p:cNvSpPr/>
          <p:nvPr/>
        </p:nvSpPr>
        <p:spPr>
          <a:xfrm>
            <a:off x="6473880" y="2103120"/>
            <a:ext cx="566640" cy="5666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39" name="Software icoon" descr="Software"/>
          <p:cNvPicPr/>
          <p:nvPr/>
        </p:nvPicPr>
        <p:blipFill>
          <a:blip r:embed="rId2"/>
          <a:stretch/>
        </p:blipFill>
        <p:spPr>
          <a:xfrm>
            <a:off x="6615720" y="2244960"/>
            <a:ext cx="282960" cy="282960"/>
          </a:xfrm>
          <a:prstGeom prst="rect">
            <a:avLst/>
          </a:prstGeom>
          <a:ln w="0">
            <a:noFill/>
          </a:ln>
        </p:spPr>
      </p:pic>
      <p:sp>
        <p:nvSpPr>
          <p:cNvPr id="240" name="Text 10"/>
          <p:cNvSpPr/>
          <p:nvPr/>
        </p:nvSpPr>
        <p:spPr>
          <a:xfrm>
            <a:off x="7205400" y="2103120"/>
            <a:ext cx="365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a2a36"/>
                </a:solidFill>
                <a:latin typeface="Calibri"/>
              </a:rPr>
              <a:t>Software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1"/>
          <p:cNvSpPr/>
          <p:nvPr/>
        </p:nvSpPr>
        <p:spPr>
          <a:xfrm>
            <a:off x="6519600" y="2971800"/>
            <a:ext cx="4800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chemeClr val="accent5"/>
                </a:solidFill>
                <a:latin typeface="Calibri"/>
              </a:rPr>
              <a:t>MeshCore-app op je telefoon (iOS/Android)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Of: de webflasher/webclient in je browser — niets installeren nodig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001"/>
              </a:spcAft>
              <a:buClr>
                <a:srgbClr val="556675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chemeClr val="accent5"/>
                </a:solidFill>
                <a:latin typeface="Calibri"/>
              </a:rPr>
              <a:t>We flashen samen de firmware op een board (kort, live)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cheidingslijn"/>
          <p:cNvSpPr/>
          <p:nvPr/>
        </p:nvSpPr>
        <p:spPr>
          <a:xfrm>
            <a:off x="6519600" y="4937760"/>
            <a:ext cx="4800600" cy="360"/>
          </a:xfrm>
          <a:prstGeom prst="line">
            <a:avLst/>
          </a:prstGeom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sldNum" idx="10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5667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8C460B-F792-4E68-898D-815ED00CE4D2}" type="slidenum">
              <a:rPr b="0" lang="en-US" sz="1100" spc="-1" strike="noStrike">
                <a:solidFill>
                  <a:srgbClr val="556675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Mijn ervaringen tot nu toe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54864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accent5"/>
                </a:solidFill>
                <a:latin typeface="Calibri"/>
              </a:rPr>
              <a:t>Wat ik tegenkwam — en wat ik ervan leerde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Kaart Flashen &amp; instellen"/>
          <p:cNvSpPr/>
          <p:nvPr/>
        </p:nvSpPr>
        <p:spPr>
          <a:xfrm>
            <a:off x="548640" y="1828800"/>
            <a:ext cx="11091240" cy="9597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47" name="Flashen &amp; instellen badge"/>
          <p:cNvSpPr/>
          <p:nvPr/>
        </p:nvSpPr>
        <p:spPr>
          <a:xfrm>
            <a:off x="777240" y="203004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48" name="Flashen &amp; instellen icoon" descr="Flashen &amp; instellen"/>
          <p:cNvPicPr/>
          <p:nvPr/>
        </p:nvPicPr>
        <p:blipFill>
          <a:blip r:embed="rId1"/>
          <a:stretch/>
        </p:blipFill>
        <p:spPr>
          <a:xfrm>
            <a:off x="914400" y="2167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49" name="Text 4"/>
          <p:cNvSpPr/>
          <p:nvPr/>
        </p:nvSpPr>
        <p:spPr>
          <a:xfrm>
            <a:off x="1600200" y="190188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a36"/>
                </a:solidFill>
                <a:latin typeface="Calibri"/>
              </a:rPr>
              <a:t>Flashen &amp; instellen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5852160" y="1901880"/>
            <a:ext cx="5577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5"/>
                </a:solidFill>
                <a:latin typeface="Calibri"/>
              </a:rPr>
              <a:t>Preset, regio (868 MHz NL) en path-hash-grootte kloppend krijgen — kleine dingen die veel verschil maken.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Kaart &quot;Ik zie alleen mezelf op de analyzer&quot;"/>
          <p:cNvSpPr/>
          <p:nvPr/>
        </p:nvSpPr>
        <p:spPr>
          <a:xfrm>
            <a:off x="548640" y="2926080"/>
            <a:ext cx="11091240" cy="9597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52" name="&quot;Ik zie alleen mezelf op de analyzer&quot; badge"/>
          <p:cNvSpPr/>
          <p:nvPr/>
        </p:nvSpPr>
        <p:spPr>
          <a:xfrm>
            <a:off x="777240" y="312732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53" name="&quot;Ik zie alleen mezelf op de analyzer&quot; icoon" descr="&quot;Ik zie alleen mezelf op de analyzer&quot;"/>
          <p:cNvPicPr/>
          <p:nvPr/>
        </p:nvPicPr>
        <p:blipFill>
          <a:blip r:embed="rId2"/>
          <a:stretch/>
        </p:blipFill>
        <p:spPr>
          <a:xfrm>
            <a:off x="914400" y="32644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54" name="Text 8"/>
          <p:cNvSpPr/>
          <p:nvPr/>
        </p:nvSpPr>
        <p:spPr>
          <a:xfrm>
            <a:off x="1600200" y="299916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a36"/>
                </a:solidFill>
                <a:latin typeface="Calibri"/>
              </a:rPr>
              <a:t>"Ik zie alleen mezelf op de analyzer"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5852160" y="2999160"/>
            <a:ext cx="5577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5"/>
                </a:solidFill>
                <a:latin typeface="Calibri"/>
              </a:rPr>
              <a:t>Bleek te maken te hebben met region-instellingen die niet aansloten bij de rest van het lokale netwerk.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Kaart Overleg met de community"/>
          <p:cNvSpPr/>
          <p:nvPr/>
        </p:nvSpPr>
        <p:spPr>
          <a:xfrm>
            <a:off x="548640" y="4023360"/>
            <a:ext cx="11091240" cy="9597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57" name="Overleg met de community badge"/>
          <p:cNvSpPr/>
          <p:nvPr/>
        </p:nvSpPr>
        <p:spPr>
          <a:xfrm>
            <a:off x="777240" y="422460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58" name="Overleg met de community icoon" descr="Overleg met de community"/>
          <p:cNvPicPr/>
          <p:nvPr/>
        </p:nvPicPr>
        <p:blipFill>
          <a:blip r:embed="rId3"/>
          <a:stretch/>
        </p:blipFill>
        <p:spPr>
          <a:xfrm>
            <a:off x="914400" y="43617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59" name="Text 12"/>
          <p:cNvSpPr/>
          <p:nvPr/>
        </p:nvSpPr>
        <p:spPr>
          <a:xfrm>
            <a:off x="1600200" y="409644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a36"/>
                </a:solidFill>
                <a:latin typeface="Calibri"/>
              </a:rPr>
              <a:t>Overleg met de community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5852160" y="4096440"/>
            <a:ext cx="5577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5"/>
                </a:solidFill>
                <a:latin typeface="Calibri"/>
              </a:rPr>
              <a:t>Regio-afspraken en path-hash-grootte werken pas goed als de meeste repeaters in de buurt hetzelfde doen.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Kaart Hardware-avonturen"/>
          <p:cNvSpPr/>
          <p:nvPr/>
        </p:nvSpPr>
        <p:spPr>
          <a:xfrm>
            <a:off x="548640" y="5120640"/>
            <a:ext cx="11091240" cy="9597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62" name="Hardware-avonturen badge"/>
          <p:cNvSpPr/>
          <p:nvPr/>
        </p:nvSpPr>
        <p:spPr>
          <a:xfrm>
            <a:off x="777240" y="532188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263" name="Hardware-avonturen icoon" descr="Hardware-avonturen"/>
          <p:cNvPicPr/>
          <p:nvPr/>
        </p:nvPicPr>
        <p:blipFill>
          <a:blip r:embed="rId4"/>
          <a:stretch/>
        </p:blipFill>
        <p:spPr>
          <a:xfrm>
            <a:off x="914400" y="54590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64" name="Text 16"/>
          <p:cNvSpPr/>
          <p:nvPr/>
        </p:nvSpPr>
        <p:spPr>
          <a:xfrm>
            <a:off x="1600200" y="519372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2a36"/>
                </a:solidFill>
                <a:latin typeface="Calibri"/>
              </a:rPr>
              <a:t>Hardware-avonturen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5852160" y="5193720"/>
            <a:ext cx="5577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accent5"/>
                </a:solidFill>
                <a:latin typeface="Calibri"/>
              </a:rPr>
              <a:t>Een oude Arduino Uno + Dragino LoRaShield bleek niet krachtig genoeg voor MeshCore — leerzaam om te ontdekken waarom.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sldNum" idx="11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55667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0B2441-75AE-45FC-A245-3890DA775A49}" type="slidenum">
              <a:rPr b="0" lang="en-US" sz="1100" spc="-1" strike="noStrike">
                <a:solidFill>
                  <a:srgbClr val="556675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Live flashen: iedereen kan mee doen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68" name="mesh-lijn 5"/>
          <p:cNvSpPr/>
          <p:nvPr/>
        </p:nvSpPr>
        <p:spPr>
          <a:xfrm>
            <a:off x="9212400" y="2628720"/>
            <a:ext cx="1257480" cy="1531800"/>
          </a:xfrm>
          <a:prstGeom prst="line">
            <a:avLst/>
          </a:prstGeom>
          <a:ln w="31750">
            <a:solidFill>
              <a:srgbClr val="3f8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69" name="mesh-lijn 6"/>
          <p:cNvSpPr/>
          <p:nvPr/>
        </p:nvSpPr>
        <p:spPr>
          <a:xfrm flipV="1">
            <a:off x="10469880" y="2720160"/>
            <a:ext cx="1028520" cy="1440360"/>
          </a:xfrm>
          <a:prstGeom prst="line">
            <a:avLst/>
          </a:prstGeom>
          <a:ln w="31750">
            <a:solidFill>
              <a:srgbClr val="3f8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70" name="mesh-lijn 7"/>
          <p:cNvSpPr/>
          <p:nvPr/>
        </p:nvSpPr>
        <p:spPr>
          <a:xfrm flipV="1">
            <a:off x="9029520" y="4160520"/>
            <a:ext cx="1440360" cy="1119960"/>
          </a:xfrm>
          <a:prstGeom prst="line">
            <a:avLst/>
          </a:prstGeom>
          <a:ln w="31750">
            <a:solidFill>
              <a:srgbClr val="3f8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71" name="mesh-lijn 8"/>
          <p:cNvSpPr/>
          <p:nvPr/>
        </p:nvSpPr>
        <p:spPr>
          <a:xfrm>
            <a:off x="10469880" y="4160520"/>
            <a:ext cx="1119960" cy="1028520"/>
          </a:xfrm>
          <a:prstGeom prst="line">
            <a:avLst/>
          </a:prstGeom>
          <a:ln w="31750">
            <a:solidFill>
              <a:srgbClr val="3f8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72" name="mesh-node 6"/>
          <p:cNvSpPr/>
          <p:nvPr/>
        </p:nvSpPr>
        <p:spPr>
          <a:xfrm>
            <a:off x="10058400" y="3749040"/>
            <a:ext cx="822600" cy="82260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de4d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73" name="mesh-node 7"/>
          <p:cNvSpPr/>
          <p:nvPr/>
        </p:nvSpPr>
        <p:spPr>
          <a:xfrm>
            <a:off x="8961120" y="2377440"/>
            <a:ext cx="502560" cy="5025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74" name="mesh-node 8"/>
          <p:cNvSpPr/>
          <p:nvPr/>
        </p:nvSpPr>
        <p:spPr>
          <a:xfrm>
            <a:off x="11247120" y="2468880"/>
            <a:ext cx="502560" cy="5025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75" name="mesh-node 9"/>
          <p:cNvSpPr/>
          <p:nvPr/>
        </p:nvSpPr>
        <p:spPr>
          <a:xfrm>
            <a:off x="8778240" y="5029200"/>
            <a:ext cx="502560" cy="5025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76" name="mesh-node 10"/>
          <p:cNvSpPr/>
          <p:nvPr/>
        </p:nvSpPr>
        <p:spPr>
          <a:xfrm>
            <a:off x="11338560" y="4937760"/>
            <a:ext cx="502560" cy="5025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ldNum" idx="12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bfd6ec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EAA8C1-0D67-4E1A-BBDC-24E0E505E425}" type="slidenum">
              <a:rPr b="0" lang="en-US" sz="1100" spc="-1" strike="noStrike">
                <a:solidFill>
                  <a:srgbClr val="bfd6ec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78" name="Picture 1" descr=""/>
          <p:cNvPicPr/>
          <p:nvPr/>
        </p:nvPicPr>
        <p:blipFill>
          <a:blip r:embed="rId1"/>
          <a:stretch/>
        </p:blipFill>
        <p:spPr>
          <a:xfrm>
            <a:off x="548640" y="2675160"/>
            <a:ext cx="2480400" cy="3562560"/>
          </a:xfrm>
          <a:prstGeom prst="rect">
            <a:avLst/>
          </a:prstGeom>
          <a:ln w="0">
            <a:noFill/>
          </a:ln>
        </p:spPr>
      </p:pic>
      <p:sp>
        <p:nvSpPr>
          <p:cNvPr id="279" name="Rectangle 1"/>
          <p:cNvSpPr/>
          <p:nvPr/>
        </p:nvSpPr>
        <p:spPr>
          <a:xfrm>
            <a:off x="3776400" y="2776680"/>
            <a:ext cx="4638960" cy="16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en-NL" sz="3200" spc="-1" strike="noStrike">
                <a:solidFill>
                  <a:srgbClr val="ffffff"/>
                </a:solidFill>
                <a:latin typeface="Calibri"/>
              </a:rPr>
              <a:t>Waarschuwingen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NL" sz="1800" spc="-1" strike="noStrike">
                <a:solidFill>
                  <a:srgbClr val="ffffff"/>
                </a:solidFill>
                <a:latin typeface="Calibri"/>
              </a:rPr>
              <a:t>Zet </a:t>
            </a:r>
            <a:r>
              <a:rPr b="1" lang="en-NL" sz="1800" spc="-1" strike="noStrike">
                <a:solidFill>
                  <a:srgbClr val="ff0000"/>
                </a:solidFill>
                <a:latin typeface="Calibri"/>
              </a:rPr>
              <a:t>NOOIT</a:t>
            </a:r>
            <a:r>
              <a:rPr b="1" lang="en-NL" sz="1800" spc="-1" strike="noStrike">
                <a:solidFill>
                  <a:srgbClr val="ffffff"/>
                </a:solidFill>
                <a:latin typeface="Calibri"/>
              </a:rPr>
              <a:t> spanning op het Heltec board als de externe antenne niet aangesloten is.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NL" sz="1800" spc="-1" strike="noStrike">
                <a:solidFill>
                  <a:srgbClr val="ffffff"/>
                </a:solidFill>
                <a:latin typeface="Calibri"/>
              </a:rPr>
              <a:t>Doe je dat wel, dan is de kans groot dat je de LORA chip opblaast.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Live demo: iedereen kan mee doen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81" name="Text 20"/>
          <p:cNvSpPr/>
          <p:nvPr/>
        </p:nvSpPr>
        <p:spPr>
          <a:xfrm>
            <a:off x="54864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accent6"/>
                </a:solidFill>
                <a:latin typeface="Calibri"/>
              </a:rPr>
              <a:t>Pak je telefoon of laptop erbij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tap 5"/>
          <p:cNvSpPr/>
          <p:nvPr/>
        </p:nvSpPr>
        <p:spPr>
          <a:xfrm>
            <a:off x="548640" y="2057400"/>
            <a:ext cx="603000" cy="603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83" name="Text 21"/>
          <p:cNvSpPr/>
          <p:nvPr/>
        </p:nvSpPr>
        <p:spPr>
          <a:xfrm>
            <a:off x="548640" y="205740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22"/>
          <p:cNvSpPr/>
          <p:nvPr/>
        </p:nvSpPr>
        <p:spPr>
          <a:xfrm>
            <a:off x="1463040" y="2075760"/>
            <a:ext cx="6857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Calibri"/>
              </a:rPr>
              <a:t>Open de MeshCore-webclient of -app op je telefoon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tap 6"/>
          <p:cNvSpPr/>
          <p:nvPr/>
        </p:nvSpPr>
        <p:spPr>
          <a:xfrm>
            <a:off x="548640" y="3081600"/>
            <a:ext cx="603000" cy="603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86" name="Text 23"/>
          <p:cNvSpPr/>
          <p:nvPr/>
        </p:nvSpPr>
        <p:spPr>
          <a:xfrm>
            <a:off x="548640" y="308160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24"/>
          <p:cNvSpPr/>
          <p:nvPr/>
        </p:nvSpPr>
        <p:spPr>
          <a:xfrm>
            <a:off x="1463040" y="3099960"/>
            <a:ext cx="6857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Calibri"/>
              </a:rPr>
              <a:t>Verbind met de companion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tap 7"/>
          <p:cNvSpPr/>
          <p:nvPr/>
        </p:nvSpPr>
        <p:spPr>
          <a:xfrm>
            <a:off x="548640" y="4105800"/>
            <a:ext cx="603000" cy="603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548640" y="410580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26"/>
          <p:cNvSpPr/>
          <p:nvPr/>
        </p:nvSpPr>
        <p:spPr>
          <a:xfrm>
            <a:off x="1463040" y="4123800"/>
            <a:ext cx="6857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Calibri"/>
              </a:rPr>
              <a:t>Stuur samen een bericht in het #Public kanaal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tap 8"/>
          <p:cNvSpPr/>
          <p:nvPr/>
        </p:nvSpPr>
        <p:spPr>
          <a:xfrm>
            <a:off x="548640" y="5129640"/>
            <a:ext cx="603000" cy="60300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92" name="Text 27"/>
          <p:cNvSpPr/>
          <p:nvPr/>
        </p:nvSpPr>
        <p:spPr>
          <a:xfrm>
            <a:off x="548640" y="512964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32"/>
          <p:cNvSpPr/>
          <p:nvPr/>
        </p:nvSpPr>
        <p:spPr>
          <a:xfrm>
            <a:off x="1463040" y="5148000"/>
            <a:ext cx="6857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Calibri"/>
              </a:rPr>
              <a:t>Bekijk hoe "repeats" oplopen naarmate je bericht doorspringt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mesh-lijn 9"/>
          <p:cNvSpPr/>
          <p:nvPr/>
        </p:nvSpPr>
        <p:spPr>
          <a:xfrm>
            <a:off x="9212400" y="2628720"/>
            <a:ext cx="1257480" cy="1531800"/>
          </a:xfrm>
          <a:prstGeom prst="line">
            <a:avLst/>
          </a:prstGeom>
          <a:ln w="31750">
            <a:solidFill>
              <a:srgbClr val="3f8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95" name="mesh-lijn 10"/>
          <p:cNvSpPr/>
          <p:nvPr/>
        </p:nvSpPr>
        <p:spPr>
          <a:xfrm flipV="1">
            <a:off x="10469880" y="2720160"/>
            <a:ext cx="1028520" cy="1440360"/>
          </a:xfrm>
          <a:prstGeom prst="line">
            <a:avLst/>
          </a:prstGeom>
          <a:ln w="31750">
            <a:solidFill>
              <a:srgbClr val="3f8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96" name="mesh-lijn 11"/>
          <p:cNvSpPr/>
          <p:nvPr/>
        </p:nvSpPr>
        <p:spPr>
          <a:xfrm flipV="1">
            <a:off x="9029520" y="4160520"/>
            <a:ext cx="1440360" cy="1119960"/>
          </a:xfrm>
          <a:prstGeom prst="line">
            <a:avLst/>
          </a:prstGeom>
          <a:ln w="31750">
            <a:solidFill>
              <a:srgbClr val="3f8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97" name="mesh-lijn 12"/>
          <p:cNvSpPr/>
          <p:nvPr/>
        </p:nvSpPr>
        <p:spPr>
          <a:xfrm>
            <a:off x="10469880" y="4160520"/>
            <a:ext cx="1119960" cy="1028520"/>
          </a:xfrm>
          <a:prstGeom prst="line">
            <a:avLst/>
          </a:prstGeom>
          <a:ln w="31750">
            <a:solidFill>
              <a:srgbClr val="3f8a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98" name="mesh-node 11"/>
          <p:cNvSpPr/>
          <p:nvPr/>
        </p:nvSpPr>
        <p:spPr>
          <a:xfrm>
            <a:off x="10058400" y="3749040"/>
            <a:ext cx="822600" cy="82260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de4d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299" name="mesh-node 12"/>
          <p:cNvSpPr/>
          <p:nvPr/>
        </p:nvSpPr>
        <p:spPr>
          <a:xfrm>
            <a:off x="8961120" y="2377440"/>
            <a:ext cx="502560" cy="5025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00" name="mesh-node 13"/>
          <p:cNvSpPr/>
          <p:nvPr/>
        </p:nvSpPr>
        <p:spPr>
          <a:xfrm>
            <a:off x="11247120" y="2468880"/>
            <a:ext cx="502560" cy="5025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01" name="mesh-node 14"/>
          <p:cNvSpPr/>
          <p:nvPr/>
        </p:nvSpPr>
        <p:spPr>
          <a:xfrm>
            <a:off x="8778240" y="5029200"/>
            <a:ext cx="502560" cy="5025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02" name="mesh-node 15"/>
          <p:cNvSpPr/>
          <p:nvPr/>
        </p:nvSpPr>
        <p:spPr>
          <a:xfrm>
            <a:off x="11338560" y="4937760"/>
            <a:ext cx="502560" cy="5025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sldNum" idx="13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bfd6ec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55FF0B-6ABE-44AE-826C-3D240198DC46}" type="slidenum">
              <a:rPr b="0" lang="en-US" sz="1100" spc="-1" strike="noStrike">
                <a:solidFill>
                  <a:srgbClr val="bfd6ec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48640" y="137160"/>
            <a:ext cx="8229240" cy="86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Afsluiting &amp; vooruitblik</a:t>
            </a:r>
            <a:endParaRPr b="0" lang="en-US" sz="32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05" name="Kaart verder lezen"/>
          <p:cNvSpPr/>
          <p:nvPr/>
        </p:nvSpPr>
        <p:spPr>
          <a:xfrm>
            <a:off x="548640" y="1554480"/>
            <a:ext cx="5440320" cy="4160160"/>
          </a:xfrm>
          <a:prstGeom prst="roundRect">
            <a:avLst>
              <a:gd name="adj" fmla="val 263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06" name="Verder lezen badge"/>
          <p:cNvSpPr/>
          <p:nvPr/>
        </p:nvSpPr>
        <p:spPr>
          <a:xfrm>
            <a:off x="822960" y="1828800"/>
            <a:ext cx="566640" cy="5666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307" name="Verder lezen icoon" descr="Verder lezen"/>
          <p:cNvPicPr/>
          <p:nvPr/>
        </p:nvPicPr>
        <p:blipFill>
          <a:blip r:embed="rId1"/>
          <a:stretch/>
        </p:blipFill>
        <p:spPr>
          <a:xfrm>
            <a:off x="964800" y="1970640"/>
            <a:ext cx="282960" cy="282960"/>
          </a:xfrm>
          <a:prstGeom prst="rect">
            <a:avLst/>
          </a:prstGeom>
          <a:ln w="0">
            <a:noFill/>
          </a:ln>
        </p:spPr>
      </p:pic>
      <p:sp>
        <p:nvSpPr>
          <p:cNvPr id="308" name="Text 3"/>
          <p:cNvSpPr/>
          <p:nvPr/>
        </p:nvSpPr>
        <p:spPr>
          <a:xfrm>
            <a:off x="1554480" y="1828800"/>
            <a:ext cx="3657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Verder lezen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868680" y="2743200"/>
            <a:ext cx="480024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>
              <a:lnSpc>
                <a:spcPct val="100000"/>
              </a:lnSpc>
              <a:spcAft>
                <a:spcPts val="18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docs.meshcore.io — documentatie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8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https://github.com/VughtseProgrammeerclub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8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MeshCore Discord — vragen &amp; community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Aft>
                <a:spcPts val="18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map.meshcore.io — live netwerkkaart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Kaart volgende avonden"/>
          <p:cNvSpPr/>
          <p:nvPr/>
        </p:nvSpPr>
        <p:spPr>
          <a:xfrm>
            <a:off x="6199560" y="1554480"/>
            <a:ext cx="5440320" cy="4160160"/>
          </a:xfrm>
          <a:prstGeom prst="roundRect">
            <a:avLst>
              <a:gd name="adj" fmla="val 2637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11" name="Volgende avonden badge"/>
          <p:cNvSpPr/>
          <p:nvPr/>
        </p:nvSpPr>
        <p:spPr>
          <a:xfrm>
            <a:off x="6473880" y="1828800"/>
            <a:ext cx="566640" cy="5666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pic>
        <p:nvPicPr>
          <p:cNvPr id="312" name="Volgende avonden icoon" descr="Volgende avonden"/>
          <p:cNvPicPr/>
          <p:nvPr/>
        </p:nvPicPr>
        <p:blipFill>
          <a:blip r:embed="rId2"/>
          <a:stretch/>
        </p:blipFill>
        <p:spPr>
          <a:xfrm>
            <a:off x="6615720" y="1970640"/>
            <a:ext cx="282960" cy="282960"/>
          </a:xfrm>
          <a:prstGeom prst="rect">
            <a:avLst/>
          </a:prstGeom>
          <a:ln w="0">
            <a:noFill/>
          </a:ln>
        </p:spPr>
      </p:pic>
      <p:sp>
        <p:nvSpPr>
          <p:cNvPr id="313" name="Text 7"/>
          <p:cNvSpPr/>
          <p:nvPr/>
        </p:nvSpPr>
        <p:spPr>
          <a:xfrm>
            <a:off x="7205400" y="1828800"/>
            <a:ext cx="4114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Volgende avonden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6519600" y="27432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</a:rPr>
              <a:t>Dinsdag 10 november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6519600" y="310896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ef4fa"/>
                </a:solidFill>
                <a:latin typeface="Calibri"/>
              </a:rPr>
              <a:t>Repeaters, room servers &amp; sensoren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6519600" y="3657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</a:rPr>
              <a:t>Dinsdag 24 november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11"/>
          <p:cNvSpPr/>
          <p:nvPr/>
        </p:nvSpPr>
        <p:spPr>
          <a:xfrm>
            <a:off x="6519600" y="402336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ef4fa"/>
                </a:solidFill>
                <a:latin typeface="Calibri"/>
              </a:rPr>
              <a:t>Zelf programmeren met Python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cheidingslijn"/>
          <p:cNvSpPr/>
          <p:nvPr/>
        </p:nvSpPr>
        <p:spPr>
          <a:xfrm>
            <a:off x="6519600" y="4617720"/>
            <a:ext cx="4800600" cy="360"/>
          </a:xfrm>
          <a:prstGeom prst="line">
            <a:avLst/>
          </a:prstGeom>
          <a:ln w="12700">
            <a:solidFill>
              <a:srgbClr val="bfd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6519600" y="475488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ef4fa"/>
                </a:solidFill>
                <a:latin typeface="Calibri"/>
              </a:rPr>
              <a:t>Aanmelden per avond via Meetup: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14"/>
          <p:cNvSpPr/>
          <p:nvPr/>
        </p:nvSpPr>
        <p:spPr>
          <a:xfrm>
            <a:off x="6519600" y="50749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meetup.com/nl-NL/vughtse-programmeerclub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Vragen-label"/>
          <p:cNvSpPr/>
          <p:nvPr/>
        </p:nvSpPr>
        <p:spPr>
          <a:xfrm>
            <a:off x="548640" y="5879520"/>
            <a:ext cx="1554120" cy="4568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NL" sz="1800" spc="-1" strike="noStrike">
              <a:solidFill>
                <a:srgbClr val="1a2a36"/>
              </a:solidFill>
              <a:latin typeface="Calibri"/>
            </a:endParaRPr>
          </a:p>
        </p:txBody>
      </p:sp>
      <p:sp>
        <p:nvSpPr>
          <p:cNvPr id="322" name="Text 16"/>
          <p:cNvSpPr/>
          <p:nvPr/>
        </p:nvSpPr>
        <p:spPr>
          <a:xfrm>
            <a:off x="548640" y="58795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Vragen?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7"/>
          <p:cNvSpPr/>
          <p:nvPr/>
        </p:nvSpPr>
        <p:spPr>
          <a:xfrm>
            <a:off x="2331720" y="58795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sldNum" idx="14"/>
          </p:nvPr>
        </p:nvSpPr>
        <p:spPr>
          <a:xfrm>
            <a:off x="11155680" y="6446520"/>
            <a:ext cx="50256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bfd6ec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EC06FD-46B6-4C94-B22B-435A0D42F4B4}" type="slidenum">
              <a:rPr b="0" lang="en-US" sz="1100" spc="-1" strike="noStrike">
                <a:solidFill>
                  <a:srgbClr val="bfd6ec"/>
                </a:solidFill>
                <a:latin typeface="Calibri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Vughtse Programmeer Club">
  <a:themeElements>
    <a:clrScheme name="Vughtse Programmeer Club">
      <a:dk1>
        <a:srgbClr val="1a2a36"/>
      </a:dk1>
      <a:lt1>
        <a:srgbClr val="ffffff"/>
      </a:lt1>
      <a:dk2>
        <a:srgbClr val="043c61"/>
      </a:dk2>
      <a:lt2>
        <a:srgbClr val="eef4fa"/>
      </a:lt2>
      <a:accent1>
        <a:srgbClr val="0c66b4"/>
      </a:accent1>
      <a:accent2>
        <a:srgbClr val="de4d04"/>
      </a:accent2>
      <a:accent3>
        <a:srgbClr val="3f8ad0"/>
      </a:accent3>
      <a:accent4>
        <a:srgbClr val="f28c4b"/>
      </a:accent4>
      <a:accent5>
        <a:srgbClr val="556675"/>
      </a:accent5>
      <a:accent6>
        <a:srgbClr val="bfd6ec"/>
      </a:accent6>
      <a:hlink>
        <a:srgbClr val="0c66b4"/>
      </a:hlink>
      <a:folHlink>
        <a:srgbClr val="55667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Vughtse Programmeer Club">
  <a:themeElements>
    <a:clrScheme name="Vughtse Programmeer Club">
      <a:dk1>
        <a:srgbClr val="1a2a36"/>
      </a:dk1>
      <a:lt1>
        <a:srgbClr val="ffffff"/>
      </a:lt1>
      <a:dk2>
        <a:srgbClr val="043c61"/>
      </a:dk2>
      <a:lt2>
        <a:srgbClr val="eef4fa"/>
      </a:lt2>
      <a:accent1>
        <a:srgbClr val="0c66b4"/>
      </a:accent1>
      <a:accent2>
        <a:srgbClr val="de4d04"/>
      </a:accent2>
      <a:accent3>
        <a:srgbClr val="3f8ad0"/>
      </a:accent3>
      <a:accent4>
        <a:srgbClr val="f28c4b"/>
      </a:accent4>
      <a:accent5>
        <a:srgbClr val="556675"/>
      </a:accent5>
      <a:accent6>
        <a:srgbClr val="bfd6ec"/>
      </a:accent6>
      <a:hlink>
        <a:srgbClr val="0c66b4"/>
      </a:hlink>
      <a:folHlink>
        <a:srgbClr val="55667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Vughtse Programmeer Club">
  <a:themeElements>
    <a:clrScheme name="Vughtse Programmeer Club">
      <a:dk1>
        <a:srgbClr val="1a2a36"/>
      </a:dk1>
      <a:lt1>
        <a:srgbClr val="ffffff"/>
      </a:lt1>
      <a:dk2>
        <a:srgbClr val="043c61"/>
      </a:dk2>
      <a:lt2>
        <a:srgbClr val="eef4fa"/>
      </a:lt2>
      <a:accent1>
        <a:srgbClr val="0c66b4"/>
      </a:accent1>
      <a:accent2>
        <a:srgbClr val="de4d04"/>
      </a:accent2>
      <a:accent3>
        <a:srgbClr val="3f8ad0"/>
      </a:accent3>
      <a:accent4>
        <a:srgbClr val="f28c4b"/>
      </a:accent4>
      <a:accent5>
        <a:srgbClr val="556675"/>
      </a:accent5>
      <a:accent6>
        <a:srgbClr val="bfd6ec"/>
      </a:accent6>
      <a:hlink>
        <a:srgbClr val="0c66b4"/>
      </a:hlink>
      <a:folHlink>
        <a:srgbClr val="55667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43c61"/>
      </a:dk2>
      <a:lt2>
        <a:srgbClr val="eef4fa"/>
      </a:lt2>
      <a:accent1>
        <a:srgbClr val="0c66b4"/>
      </a:accent1>
      <a:accent2>
        <a:srgbClr val="de4d04"/>
      </a:accent2>
      <a:accent3>
        <a:srgbClr val="3f8ad0"/>
      </a:accent3>
      <a:accent4>
        <a:srgbClr val="f28c4b"/>
      </a:accent4>
      <a:accent5>
        <a:srgbClr val="556675"/>
      </a:accent5>
      <a:accent6>
        <a:srgbClr val="bfd6ec"/>
      </a:accent6>
      <a:hlink>
        <a:srgbClr val="0c66b4"/>
      </a:hlink>
      <a:folHlink>
        <a:srgbClr val="55667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LibreOffice/7.4.7.2$Linux_X86_64 LibreOffice_project/40$Build-2</Application>
  <AppVersion>15.0000</AppVersion>
  <Words>776</Words>
  <Paragraphs>125</Paragraphs>
  <Company>Vughtse Programmeer Club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2026-10-13T06:47:24Z</dcterms:created>
  <dc:creator>Vughtse Programmeer Club</dc:creator>
  <dc:description/>
  <dc:language>en-US</dc:language>
  <cp:lastModifiedBy/>
  <dcterms:modified xsi:type="dcterms:W3CDTF">2026-10-25T11:46:59Z</dcterms:modified>
  <cp:revision>5</cp:revision>
  <dc:subject>PptxGenJS Presentation</dc:subject>
  <dc:title>MeshCore Avond 1 - Introductie en eerste connectie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</Properties>
</file>