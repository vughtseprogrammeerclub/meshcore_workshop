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9648447F-CC83-C181-22A5-19E018849713}">
          <p14:sldIdLst>
            <p14:sldId id="256"/>
            <p14:sldId id="257"/>
            <p14:sldId id="258"/>
          </p14:sldIdLst>
        </p14:section>
        <p14:section name="Basis" id="{03075EE6-BDE8-79BE-90BF-7A6068F3633B}">
          <p14:sldIdLst>
            <p14:sldId id="259"/>
            <p14:sldId id="260"/>
          </p14:sldIdLst>
        </p14:section>
        <p14:section name="Praktijk" id="{76427890-98C4-603D-0266-DD2CC0E7040D}">
          <p14:sldIdLst>
            <p14:sldId id="261"/>
            <p14:sldId id="262"/>
            <p14:sldId id="265"/>
            <p14:sldId id="263"/>
          </p14:sldIdLst>
        </p14:section>
        <p14:section name="Afsluiting" id="{C18ADCAF-B81F-5599-D21F-DFFD002AF358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9461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7EBE9-728C-E6F3-CC10-1FD674E0F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DA4882-5F45-5736-36C6-481CB4567E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16CFA2-DD3D-9383-BEF4-B0BBB5C544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73C848-4ACF-DB1A-8484-554EBBF461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2381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pc-deck/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828800"/>
            <a:ext cx="4937760" cy="243596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OU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chemeClr val="accent1"/>
          </a:solidFill>
          <a:ln/>
        </p:spPr>
      </p:sp>
      <p:pic>
        <p:nvPicPr>
          <p:cNvPr id="3" name="Image 0" descr="/home/claude/vpc-deck/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118872"/>
            <a:ext cx="2969971" cy="896112"/>
          </a:xfrm>
          <a:prstGeom prst="rect">
            <a:avLst/>
          </a:prstGeom>
        </p:spPr>
      </p:pic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137160"/>
            <a:ext cx="82296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MeshCore · Avond 1 · Vughtse Programmeer Club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5667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NK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chemeClr val="accent1"/>
          </a:solidFill>
          <a:ln/>
        </p:spPr>
      </p:sp>
      <p:pic>
        <p:nvPicPr>
          <p:cNvPr id="3" name="Image 0" descr="/home/claude/vpc-deck/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0" y="118872"/>
            <a:ext cx="2969971" cy="896112"/>
          </a:xfrm>
          <a:prstGeom prst="rect">
            <a:avLst/>
          </a:prstGeom>
        </p:spPr>
      </p:pic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137160"/>
            <a:ext cx="82296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6"/>
                </a:solidFill>
              </a:rPr>
              <a:t>MeshCore · Avond 1 · Vughtse Programmeer Club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BFD6E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5667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0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vond-label"/>
          <p:cNvSpPr/>
          <p:nvPr/>
        </p:nvSpPr>
        <p:spPr>
          <a:xfrm>
            <a:off x="731520" y="1325880"/>
            <a:ext cx="22860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3" name="Text 1"/>
          <p:cNvSpPr txBox="1"/>
          <p:nvPr/>
        </p:nvSpPr>
        <p:spPr>
          <a:xfrm>
            <a:off x="73152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chemeClr val="bg1"/>
                </a:solidFill>
              </a:rPr>
              <a:t>AVOND 1 VAN 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chemeClr val="bg1"/>
                </a:solidFill>
              </a:rPr>
              <a:t>MeshCore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0175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bg1"/>
                </a:solidFill>
              </a:rPr>
              <a:t>Introductie &amp; eerste connectie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8862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Dinsdag 27 oktober · 20:00 – 21:30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43484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 err="1">
                <a:solidFill>
                  <a:schemeClr val="bg2"/>
                </a:solidFill>
              </a:rPr>
              <a:t>Berichten</a:t>
            </a:r>
            <a:r>
              <a:rPr lang="en-US" sz="1800" i="1" dirty="0">
                <a:solidFill>
                  <a:schemeClr val="bg2"/>
                </a:solidFill>
              </a:rPr>
              <a:t> </a:t>
            </a:r>
            <a:r>
              <a:rPr lang="en-US" sz="1800" i="1" dirty="0" err="1">
                <a:solidFill>
                  <a:schemeClr val="bg2"/>
                </a:solidFill>
              </a:rPr>
              <a:t>sturen</a:t>
            </a:r>
            <a:r>
              <a:rPr lang="en-US" sz="1800" i="1" dirty="0">
                <a:solidFill>
                  <a:schemeClr val="bg2"/>
                </a:solidFill>
              </a:rPr>
              <a:t> zonder internet en zonder mobiel netwerk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137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MeshCore vs. Meshtastic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98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Twee bekende mesh-protocollen — wat is het verschil?</a:t>
            </a:r>
            <a:endParaRPr lang="en-US" sz="1600" dirty="0"/>
          </a:p>
        </p:txBody>
      </p:sp>
      <p:sp>
        <p:nvSpPr>
          <p:cNvPr id="4" name="Kaart Meshtastic"/>
          <p:cNvSpPr/>
          <p:nvPr/>
        </p:nvSpPr>
        <p:spPr>
          <a:xfrm>
            <a:off x="548640" y="1828800"/>
            <a:ext cx="5440680" cy="3794760"/>
          </a:xfrm>
          <a:prstGeom prst="roundRect">
            <a:avLst>
              <a:gd name="adj" fmla="val 2892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" name="Meshtastic badge"/>
          <p:cNvSpPr/>
          <p:nvPr/>
        </p:nvSpPr>
        <p:spPr>
          <a:xfrm>
            <a:off x="822960" y="2103120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6" name="Meshtastic icoon" descr="Meshtasti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2402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103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Meshtastic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971800"/>
            <a:ext cx="4800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accent5"/>
                </a:solidFill>
              </a:rPr>
              <a:t>Al langer bekend, grote wereldwijde community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accent5"/>
                </a:solidFill>
              </a:rPr>
              <a:t>Ondersteunt veel (ook oudere) LoRa-hardware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accent5"/>
                </a:solidFill>
              </a:rPr>
              <a:t>Gericht op eenvoud en brede compatibiliteit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accent5"/>
                </a:solidFill>
              </a:rPr>
              <a:t>Berichten vaak leesbaar voor iedereen op een kanaal</a:t>
            </a:r>
            <a:endParaRPr lang="en-US" sz="1600" dirty="0"/>
          </a:p>
        </p:txBody>
      </p:sp>
      <p:sp>
        <p:nvSpPr>
          <p:cNvPr id="9" name="Kaart MeshCore"/>
          <p:cNvSpPr/>
          <p:nvPr/>
        </p:nvSpPr>
        <p:spPr>
          <a:xfrm>
            <a:off x="6199632" y="1828800"/>
            <a:ext cx="5440680" cy="3794760"/>
          </a:xfrm>
          <a:prstGeom prst="roundRect">
            <a:avLst>
              <a:gd name="adj" fmla="val 2892"/>
            </a:avLst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0" name="MeshCore badge"/>
          <p:cNvSpPr/>
          <p:nvPr/>
        </p:nvSpPr>
        <p:spPr>
          <a:xfrm>
            <a:off x="6473952" y="21031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11" name="MeshCore icoon" descr="MeshCor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112" y="224028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05472" y="2103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MeshCore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6519672" y="2971800"/>
            <a:ext cx="4800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Nieuwer protocol, groeiende community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Sterke focus op end-to-end versleuteling tussen contacten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Flexibele node-rollen: companion, repeater, room server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Modernere routing (o.a. path hashes) voor grotere netwerken</a:t>
            </a:r>
            <a:endParaRPr lang="en-US" sz="1600" dirty="0"/>
          </a:p>
        </p:txBody>
      </p:sp>
      <p:sp>
        <p:nvSpPr>
          <p:cNvPr id="14" name="scheidingslijn"/>
          <p:cNvSpPr/>
          <p:nvPr/>
        </p:nvSpPr>
        <p:spPr>
          <a:xfrm>
            <a:off x="548640" y="5852160"/>
            <a:ext cx="11091672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5667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137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Werkt zonder internet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98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Daarom is MeshCore zo waardevol bij noodsituaties en stroomuitval</a:t>
            </a:r>
            <a:endParaRPr lang="en-US" sz="1600" dirty="0"/>
          </a:p>
        </p:txBody>
      </p:sp>
      <p:sp>
        <p:nvSpPr>
          <p:cNvPr id="4" name="Punt 1 badge"/>
          <p:cNvSpPr/>
          <p:nvPr/>
        </p:nvSpPr>
        <p:spPr>
          <a:xfrm>
            <a:off x="548640" y="20116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5" name="Punt 1 icoon" descr="Punt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21717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99339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Geen internet of mobiel netwerk nodig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377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accent6"/>
                </a:solidFill>
              </a:rPr>
              <a:t>Apparaten communiceren rechtstreeks via LoRa-radio, </a:t>
            </a:r>
            <a:r>
              <a:rPr lang="en-US" sz="1500" dirty="0" err="1">
                <a:solidFill>
                  <a:schemeClr val="accent6"/>
                </a:solidFill>
              </a:rPr>
              <a:t>ook</a:t>
            </a:r>
            <a:r>
              <a:rPr lang="en-US" sz="1500" dirty="0">
                <a:solidFill>
                  <a:schemeClr val="accent6"/>
                </a:solidFill>
              </a:rPr>
              <a:t> als telecom-netwerken uitvallen.</a:t>
            </a:r>
            <a:endParaRPr lang="en-US" sz="1500" dirty="0"/>
          </a:p>
        </p:txBody>
      </p:sp>
      <p:sp>
        <p:nvSpPr>
          <p:cNvPr id="8" name="Punt 2 badge"/>
          <p:cNvSpPr/>
          <p:nvPr/>
        </p:nvSpPr>
        <p:spPr>
          <a:xfrm>
            <a:off x="548640" y="30632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9" name="Punt 2 icoon" descr="Punt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" y="322326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30449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Werkt op batterij of powerbank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1463040" y="3429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accent6"/>
                </a:solidFill>
              </a:rPr>
              <a:t>Ook bij langdurige stroomuitval blijft communicatie mogelijk, onafhankelijk van het elektriciteitsnet.</a:t>
            </a:r>
            <a:endParaRPr lang="en-US" sz="1500" dirty="0"/>
          </a:p>
        </p:txBody>
      </p:sp>
      <p:sp>
        <p:nvSpPr>
          <p:cNvPr id="12" name="Punt 3 badge"/>
          <p:cNvSpPr/>
          <p:nvPr/>
        </p:nvSpPr>
        <p:spPr>
          <a:xfrm>
            <a:off x="548640" y="41148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13" name="Punt 3 icoon" descr="Punt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" y="4274820"/>
            <a:ext cx="320040" cy="3200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4096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Geschikt voor noodsituaties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1463040" y="4480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accent6"/>
                </a:solidFill>
              </a:rPr>
              <a:t>Rampen, extreem weer of grote storingen: een mesh-netwerk blijft functioneren als andere infrastructuur wegvalt.</a:t>
            </a:r>
            <a:endParaRPr lang="en-US" sz="1500" dirty="0"/>
          </a:p>
        </p:txBody>
      </p:sp>
      <p:sp>
        <p:nvSpPr>
          <p:cNvPr id="16" name="Punt 4 badge"/>
          <p:cNvSpPr/>
          <p:nvPr/>
        </p:nvSpPr>
        <p:spPr>
          <a:xfrm>
            <a:off x="548640" y="51663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17" name="Punt 4 icoon" descr="Punt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" y="5326380"/>
            <a:ext cx="320040" cy="3200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63040" y="51480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Ook handig in afgelegen gebieden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146304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accent6"/>
                </a:solidFill>
              </a:rPr>
              <a:t>Wandelen, kamperen of evenementen </a:t>
            </a:r>
            <a:r>
              <a:rPr lang="en-US" sz="1500" dirty="0" err="1">
                <a:solidFill>
                  <a:schemeClr val="accent6"/>
                </a:solidFill>
              </a:rPr>
              <a:t>zonder</a:t>
            </a:r>
            <a:r>
              <a:rPr lang="en-US" sz="1500" dirty="0">
                <a:solidFill>
                  <a:schemeClr val="accent6"/>
                </a:solidFill>
              </a:rPr>
              <a:t> </a:t>
            </a:r>
            <a:r>
              <a:rPr lang="en-US" sz="1500" dirty="0" err="1">
                <a:solidFill>
                  <a:schemeClr val="accent6"/>
                </a:solidFill>
              </a:rPr>
              <a:t>bereik</a:t>
            </a:r>
            <a:r>
              <a:rPr lang="en-US" sz="1500" dirty="0">
                <a:solidFill>
                  <a:schemeClr val="accent6"/>
                </a:solidFill>
              </a:rPr>
              <a:t>, </a:t>
            </a:r>
            <a:r>
              <a:rPr lang="en-US" sz="1500" dirty="0" err="1">
                <a:solidFill>
                  <a:schemeClr val="accent6"/>
                </a:solidFill>
              </a:rPr>
              <a:t>communiceer</a:t>
            </a:r>
            <a:r>
              <a:rPr lang="en-US" sz="1500" dirty="0">
                <a:solidFill>
                  <a:schemeClr val="accent6"/>
                </a:solidFill>
              </a:rPr>
              <a:t> alsnog met mensen in de buurt.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BFD6E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137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Wat is MeshCore?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98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Een mesh-netwerk in gewone taal</a:t>
            </a:r>
            <a:endParaRPr lang="en-US" sz="1600" dirty="0"/>
          </a:p>
        </p:txBody>
      </p:sp>
      <p:sp>
        <p:nvSpPr>
          <p:cNvPr id="4" name="Kenmerk 1 badge"/>
          <p:cNvSpPr/>
          <p:nvPr/>
        </p:nvSpPr>
        <p:spPr>
          <a:xfrm>
            <a:off x="548640" y="196596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5" name="Kenmerk 1 icoon" descr="Kenmerk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488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92024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Geen internet nodig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23317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5"/>
                </a:solidFill>
              </a:rPr>
              <a:t>Apparaten praten rechtstreeks met elkaar via LoRa-radiosignalen.</a:t>
            </a:r>
            <a:endParaRPr lang="en-US" sz="1500" dirty="0"/>
          </a:p>
        </p:txBody>
      </p:sp>
      <p:sp>
        <p:nvSpPr>
          <p:cNvPr id="8" name="Kenmerk 2 badge"/>
          <p:cNvSpPr/>
          <p:nvPr/>
        </p:nvSpPr>
        <p:spPr>
          <a:xfrm>
            <a:off x="548640" y="333756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9" name="Kenmerk 2 icoon" descr="Kenmerk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52044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329184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Berichten springen door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1508760" y="37033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5"/>
                </a:solidFill>
              </a:rPr>
              <a:t>Elk apparaat ("node") kan een bericht doorsturen naar de volgende, tot het aankomt.</a:t>
            </a:r>
            <a:endParaRPr lang="en-US" sz="1500" dirty="0"/>
          </a:p>
        </p:txBody>
      </p:sp>
      <p:sp>
        <p:nvSpPr>
          <p:cNvPr id="12" name="Kenmerk 3 badge"/>
          <p:cNvSpPr/>
          <p:nvPr/>
        </p:nvSpPr>
        <p:spPr>
          <a:xfrm>
            <a:off x="548640" y="470916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13" name="Kenmerk 3 icoon" descr="Kenmerk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89204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508760" y="466344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Community-gedreven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1508760" y="50749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5"/>
                </a:solidFill>
              </a:rPr>
              <a:t>Open source, gebouwd en uitgebreid door gebruikers wereldwijd — ook in Nederland.</a:t>
            </a:r>
            <a:endParaRPr lang="en-US" sz="1500" dirty="0"/>
          </a:p>
        </p:txBody>
      </p:sp>
      <p:sp>
        <p:nvSpPr>
          <p:cNvPr id="16" name="Kaart context"/>
          <p:cNvSpPr/>
          <p:nvPr/>
        </p:nvSpPr>
        <p:spPr>
          <a:xfrm>
            <a:off x="7086600" y="1828800"/>
            <a:ext cx="4553712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Text 12"/>
          <p:cNvSpPr txBox="1"/>
          <p:nvPr/>
        </p:nvSpPr>
        <p:spPr>
          <a:xfrm>
            <a:off x="7406640" y="20574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Kort: en Meshtastic dan?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7406640" y="260604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MeshCore </a:t>
            </a:r>
            <a:r>
              <a:rPr lang="en-US" sz="1500" dirty="0">
                <a:solidFill>
                  <a:schemeClr val="accent5"/>
                </a:solidFill>
              </a:rPr>
              <a:t>is een ander, nieuwer protocol met eigen keuzes in routing en versleuteling.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7406640" y="34747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Zie ook </a:t>
            </a:r>
            <a:r>
              <a:rPr lang="en-US" sz="1500" dirty="0">
                <a:solidFill>
                  <a:schemeClr val="accent5"/>
                </a:solidFill>
              </a:rPr>
              <a:t>de vergelijkingsslide hiervoor voor de belangrijkste verschillen.</a:t>
            </a:r>
            <a:endParaRPr lang="en-US" sz="1500" dirty="0"/>
          </a:p>
        </p:txBody>
      </p:sp>
      <p:sp>
        <p:nvSpPr>
          <p:cNvPr id="20" name="scheidingslijn"/>
          <p:cNvSpPr/>
          <p:nvPr/>
        </p:nvSpPr>
        <p:spPr>
          <a:xfrm>
            <a:off x="7406640" y="4343400"/>
            <a:ext cx="3931920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1" name="Text 16"/>
          <p:cNvSpPr txBox="1"/>
          <p:nvPr/>
        </p:nvSpPr>
        <p:spPr>
          <a:xfrm>
            <a:off x="7406640" y="44805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Waarom mensen dit leuk vinden: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7406640" y="484632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accent5"/>
                </a:solidFill>
              </a:rPr>
              <a:t>Noodcommunicatie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accent5"/>
                </a:solidFill>
              </a:rPr>
              <a:t>Hobby &amp; techniek uitproberen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accent5"/>
                </a:solidFill>
              </a:rPr>
              <a:t>Privacy — geen abonnement, geen cloud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5667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137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De basis-concepten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98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Node, companion, repeater en room server — en hoe een bericht zijn weg vindt</a:t>
            </a:r>
            <a:endParaRPr lang="en-US" sz="1600" dirty="0"/>
          </a:p>
        </p:txBody>
      </p:sp>
      <p:sp>
        <p:nvSpPr>
          <p:cNvPr id="4" name="Kaart Node"/>
          <p:cNvSpPr/>
          <p:nvPr/>
        </p:nvSpPr>
        <p:spPr>
          <a:xfrm>
            <a:off x="548640" y="182880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" name="Node badge"/>
          <p:cNvSpPr/>
          <p:nvPr/>
        </p:nvSpPr>
        <p:spPr>
          <a:xfrm>
            <a:off x="777240" y="202996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6" name="Node icoon" descr="N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67128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6974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Node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9067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Elk apparaat in het netwerk. Elke node kan berichten ontvangen én doorsturen.</a:t>
            </a:r>
            <a:endParaRPr lang="en-US" sz="1300" dirty="0"/>
          </a:p>
        </p:txBody>
      </p:sp>
      <p:sp>
        <p:nvSpPr>
          <p:cNvPr id="9" name="Kaart Companion"/>
          <p:cNvSpPr/>
          <p:nvPr/>
        </p:nvSpPr>
        <p:spPr>
          <a:xfrm>
            <a:off x="3392424" y="182880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0" name="Companion badge"/>
          <p:cNvSpPr/>
          <p:nvPr/>
        </p:nvSpPr>
        <p:spPr>
          <a:xfrm>
            <a:off x="3621024" y="202996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11" name="Companion icoon" descr="Compani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8184" y="216712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21024" y="26974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Companion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3621024" y="309067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Jouw eigen node, gekoppeld aan je telefoon via Bluetooth. Hiermee chat je.</a:t>
            </a:r>
            <a:endParaRPr lang="en-US" sz="1300" dirty="0"/>
          </a:p>
        </p:txBody>
      </p:sp>
      <p:sp>
        <p:nvSpPr>
          <p:cNvPr id="14" name="Kaart Repeater"/>
          <p:cNvSpPr/>
          <p:nvPr/>
        </p:nvSpPr>
        <p:spPr>
          <a:xfrm>
            <a:off x="6236208" y="182880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Repeater badge"/>
          <p:cNvSpPr/>
          <p:nvPr/>
        </p:nvSpPr>
        <p:spPr>
          <a:xfrm>
            <a:off x="6464808" y="202996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16" name="Repeater icoon" descr="Repea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1968" y="216712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64808" y="26974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Repeater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6464808" y="309067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Een node die vooral berichten doorstuurt, om het bereik te vergroten.</a:t>
            </a:r>
            <a:endParaRPr lang="en-US" sz="1300" dirty="0"/>
          </a:p>
        </p:txBody>
      </p:sp>
      <p:sp>
        <p:nvSpPr>
          <p:cNvPr id="19" name="Kaart Room Server"/>
          <p:cNvSpPr/>
          <p:nvPr/>
        </p:nvSpPr>
        <p:spPr>
          <a:xfrm>
            <a:off x="9079992" y="1828800"/>
            <a:ext cx="25603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Room Server badge"/>
          <p:cNvSpPr/>
          <p:nvPr/>
        </p:nvSpPr>
        <p:spPr>
          <a:xfrm>
            <a:off x="9308592" y="202996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21" name="Room Server icoon" descr="Room Serve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5752" y="2167128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08592" y="26974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Room Server</a:t>
            </a:r>
            <a:endParaRPr lang="en-US" sz="1900" dirty="0"/>
          </a:p>
        </p:txBody>
      </p:sp>
      <p:sp>
        <p:nvSpPr>
          <p:cNvPr id="23" name="Text 17"/>
          <p:cNvSpPr txBox="1"/>
          <p:nvPr/>
        </p:nvSpPr>
        <p:spPr>
          <a:xfrm>
            <a:off x="9308592" y="309067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Een soort prikbord: slaat berichten op, zodat je ze later kunt ophalen.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tx1"/>
                </a:solidFill>
              </a:rPr>
              <a:t>Flood-routing: de estafette-metafoor</a:t>
            </a:r>
            <a:endParaRPr lang="en-US" sz="1900" dirty="0"/>
          </a:p>
        </p:txBody>
      </p:sp>
      <p:sp>
        <p:nvSpPr>
          <p:cNvPr id="25" name="verbinding 1"/>
          <p:cNvSpPr/>
          <p:nvPr/>
        </p:nvSpPr>
        <p:spPr>
          <a:xfrm>
            <a:off x="1645920" y="5212080"/>
            <a:ext cx="1783080" cy="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26" name="verbinding 2"/>
          <p:cNvSpPr/>
          <p:nvPr/>
        </p:nvSpPr>
        <p:spPr>
          <a:xfrm>
            <a:off x="4069080" y="5212080"/>
            <a:ext cx="1783080" cy="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27" name="verbinding 3"/>
          <p:cNvSpPr/>
          <p:nvPr/>
        </p:nvSpPr>
        <p:spPr>
          <a:xfrm>
            <a:off x="6492240" y="5212080"/>
            <a:ext cx="1783080" cy="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28" name="verbinding 4"/>
          <p:cNvSpPr/>
          <p:nvPr/>
        </p:nvSpPr>
        <p:spPr>
          <a:xfrm>
            <a:off x="8915400" y="5212080"/>
            <a:ext cx="1783080" cy="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dash"/>
          </a:ln>
        </p:spPr>
        <p:txBody>
          <a:bodyPr/>
          <a:lstStyle/>
          <a:p>
            <a:endParaRPr lang="en-NL"/>
          </a:p>
        </p:txBody>
      </p:sp>
      <p:sp>
        <p:nvSpPr>
          <p:cNvPr id="29" name="node 1"/>
          <p:cNvSpPr/>
          <p:nvPr/>
        </p:nvSpPr>
        <p:spPr>
          <a:xfrm>
            <a:off x="1005840" y="4892040"/>
            <a:ext cx="640080" cy="640080"/>
          </a:xfrm>
          <a:prstGeom prst="ellipse">
            <a:avLst/>
          </a:prstGeom>
          <a:solidFill>
            <a:schemeClr val="accent2"/>
          </a:solidFill>
          <a:ln w="3175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0" name="node 2"/>
          <p:cNvSpPr/>
          <p:nvPr/>
        </p:nvSpPr>
        <p:spPr>
          <a:xfrm>
            <a:off x="3429000" y="4892040"/>
            <a:ext cx="640080" cy="640080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1" name="node 3"/>
          <p:cNvSpPr/>
          <p:nvPr/>
        </p:nvSpPr>
        <p:spPr>
          <a:xfrm>
            <a:off x="5852160" y="4892040"/>
            <a:ext cx="640080" cy="640080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2" name="node 4"/>
          <p:cNvSpPr/>
          <p:nvPr/>
        </p:nvSpPr>
        <p:spPr>
          <a:xfrm>
            <a:off x="8275320" y="4892040"/>
            <a:ext cx="640080" cy="640080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3" name="node 5"/>
          <p:cNvSpPr/>
          <p:nvPr/>
        </p:nvSpPr>
        <p:spPr>
          <a:xfrm>
            <a:off x="10698480" y="4892040"/>
            <a:ext cx="640080" cy="640080"/>
          </a:xfrm>
          <a:prstGeom prst="ellipse">
            <a:avLst/>
          </a:prstGeom>
          <a:solidFill>
            <a:schemeClr val="accent2"/>
          </a:solidFill>
          <a:ln w="3175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4" name="Text 28"/>
          <p:cNvSpPr txBox="1"/>
          <p:nvPr/>
        </p:nvSpPr>
        <p:spPr>
          <a:xfrm>
            <a:off x="640080" y="56052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5"/>
                </a:solidFill>
              </a:rPr>
              <a:t>Zender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3429000" y="56052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accent5"/>
                </a:solidFill>
              </a:rPr>
              <a:t>Repeaters sturen door</a:t>
            </a:r>
            <a:endParaRPr lang="en-US" sz="1300" dirty="0"/>
          </a:p>
        </p:txBody>
      </p:sp>
      <p:sp>
        <p:nvSpPr>
          <p:cNvPr id="36" name="Text 30"/>
          <p:cNvSpPr txBox="1"/>
          <p:nvPr/>
        </p:nvSpPr>
        <p:spPr>
          <a:xfrm>
            <a:off x="10332720" y="56052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Ontvanger</a:t>
            </a:r>
            <a:endParaRPr lang="en-US" sz="1300" dirty="0"/>
          </a:p>
        </p:txBody>
      </p:sp>
      <p:sp>
        <p:nvSpPr>
          <p:cNvPr id="37" name="Text 31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Elke node stuurt het bericht door aan de volgende, tot het bij de bestemming aankomt.</a:t>
            </a:r>
            <a:endParaRPr lang="en-US" sz="14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5667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137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Wat heb je nodig?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98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Hardware en software om mee te doen</a:t>
            </a:r>
            <a:endParaRPr lang="en-US" sz="1600" dirty="0"/>
          </a:p>
        </p:txBody>
      </p:sp>
      <p:sp>
        <p:nvSpPr>
          <p:cNvPr id="4" name="Kaart Hardware"/>
          <p:cNvSpPr/>
          <p:nvPr/>
        </p:nvSpPr>
        <p:spPr>
          <a:xfrm>
            <a:off x="548640" y="1828800"/>
            <a:ext cx="5440680" cy="41148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" name="Hardware badge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6" name="Hardware icoon" descr="Hardwa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224485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10312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Hardware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97180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accent5"/>
                </a:solidFill>
              </a:rPr>
              <a:t>Een LoRa-board, bv. Heltec WiFi LoRa 32 V3 of V4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accent5"/>
                </a:solidFill>
              </a:rPr>
              <a:t>868 MHz-versie — dat is de juiste band voor Nederland/EU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accent5"/>
                </a:solidFill>
              </a:rPr>
              <a:t>USB-C </a:t>
            </a:r>
            <a:r>
              <a:rPr lang="en-US" sz="1600" b="1" dirty="0">
                <a:solidFill>
                  <a:schemeClr val="accent5"/>
                </a:solidFill>
              </a:rPr>
              <a:t>data-kabel</a:t>
            </a:r>
            <a:r>
              <a:rPr lang="en-US" sz="1600" dirty="0">
                <a:solidFill>
                  <a:schemeClr val="accent5"/>
                </a:solidFill>
              </a:rPr>
              <a:t> om te flashen en aan te sluiten</a:t>
            </a:r>
            <a:endParaRPr lang="en-US" sz="1600" dirty="0"/>
          </a:p>
        </p:txBody>
      </p:sp>
      <p:sp>
        <p:nvSpPr>
          <p:cNvPr id="9" name="scheidingslijn"/>
          <p:cNvSpPr/>
          <p:nvPr/>
        </p:nvSpPr>
        <p:spPr>
          <a:xfrm>
            <a:off x="868680" y="4937760"/>
            <a:ext cx="4800600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0" name="Text 7"/>
          <p:cNvSpPr txBox="1"/>
          <p:nvPr/>
        </p:nvSpPr>
        <p:spPr>
          <a:xfrm>
            <a:off x="868680" y="51206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11" name="Kaart Software"/>
          <p:cNvSpPr/>
          <p:nvPr/>
        </p:nvSpPr>
        <p:spPr>
          <a:xfrm>
            <a:off x="6199632" y="1828800"/>
            <a:ext cx="5440680" cy="41148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Software badge"/>
          <p:cNvSpPr/>
          <p:nvPr/>
        </p:nvSpPr>
        <p:spPr>
          <a:xfrm>
            <a:off x="6473952" y="210312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13" name="Software icoon" descr="Softwar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4" y="224485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205472" y="210312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Software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6519672" y="297180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accent5"/>
                </a:solidFill>
              </a:rPr>
              <a:t>MeshCore-app op je telefoon (iOS/Android)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accent5"/>
                </a:solidFill>
              </a:rPr>
              <a:t>Of: de webflasher/webclient in je browser — niets installeren nodig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accent5"/>
                </a:solidFill>
              </a:rPr>
              <a:t>We flashen samen de firmware op een board (kort, live)</a:t>
            </a:r>
            <a:endParaRPr lang="en-US" sz="1600" dirty="0"/>
          </a:p>
        </p:txBody>
      </p:sp>
      <p:sp>
        <p:nvSpPr>
          <p:cNvPr id="16" name="scheidingslijn"/>
          <p:cNvSpPr/>
          <p:nvPr/>
        </p:nvSpPr>
        <p:spPr>
          <a:xfrm>
            <a:off x="6519672" y="4937760"/>
            <a:ext cx="4800600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5667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137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Live </a:t>
            </a:r>
            <a:r>
              <a:rPr lang="en-US" sz="3200" b="1" dirty="0" err="1">
                <a:solidFill>
                  <a:schemeClr val="bg1"/>
                </a:solidFill>
              </a:rPr>
              <a:t>flashen</a:t>
            </a:r>
            <a:r>
              <a:rPr lang="en-US" sz="3200" b="1" dirty="0">
                <a:solidFill>
                  <a:schemeClr val="bg1"/>
                </a:solidFill>
              </a:rPr>
              <a:t>: </a:t>
            </a:r>
            <a:r>
              <a:rPr lang="en-US" sz="3200" b="1" dirty="0" err="1">
                <a:solidFill>
                  <a:schemeClr val="bg1"/>
                </a:solidFill>
              </a:rPr>
              <a:t>iedereen</a:t>
            </a:r>
            <a:r>
              <a:rPr lang="en-US" sz="3200" b="1" dirty="0">
                <a:solidFill>
                  <a:schemeClr val="bg1"/>
                </a:solidFill>
              </a:rPr>
              <a:t> </a:t>
            </a:r>
            <a:r>
              <a:rPr lang="en-US" sz="3200" b="1" dirty="0" err="1">
                <a:solidFill>
                  <a:schemeClr val="bg1"/>
                </a:solidFill>
              </a:rPr>
              <a:t>kan</a:t>
            </a:r>
            <a:r>
              <a:rPr lang="en-US" sz="3200" b="1" dirty="0">
                <a:solidFill>
                  <a:schemeClr val="bg1"/>
                </a:solidFill>
              </a:rPr>
              <a:t> mee </a:t>
            </a:r>
            <a:r>
              <a:rPr lang="en-US" sz="3200" b="1" dirty="0" err="1">
                <a:solidFill>
                  <a:schemeClr val="bg1"/>
                </a:solidFill>
              </a:rPr>
              <a:t>doen</a:t>
            </a:r>
            <a:endParaRPr lang="en-US" sz="3200" dirty="0"/>
          </a:p>
        </p:txBody>
      </p:sp>
      <p:sp>
        <p:nvSpPr>
          <p:cNvPr id="16" name="mesh-lijn 1"/>
          <p:cNvSpPr/>
          <p:nvPr/>
        </p:nvSpPr>
        <p:spPr>
          <a:xfrm>
            <a:off x="9212580" y="2628900"/>
            <a:ext cx="1257300" cy="153162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mesh-lijn 2"/>
          <p:cNvSpPr/>
          <p:nvPr/>
        </p:nvSpPr>
        <p:spPr>
          <a:xfrm flipV="1">
            <a:off x="10469880" y="2720340"/>
            <a:ext cx="1028700" cy="144018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mesh-lijn 3"/>
          <p:cNvSpPr/>
          <p:nvPr/>
        </p:nvSpPr>
        <p:spPr>
          <a:xfrm flipV="1">
            <a:off x="9029700" y="4160520"/>
            <a:ext cx="1440180" cy="112014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9" name="mesh-lijn 4"/>
          <p:cNvSpPr/>
          <p:nvPr/>
        </p:nvSpPr>
        <p:spPr>
          <a:xfrm>
            <a:off x="10469880" y="4160520"/>
            <a:ext cx="1120140" cy="102870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mesh-node 1"/>
          <p:cNvSpPr/>
          <p:nvPr/>
        </p:nvSpPr>
        <p:spPr>
          <a:xfrm>
            <a:off x="10058400" y="3749040"/>
            <a:ext cx="822960" cy="82296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1" name="mesh-node 2"/>
          <p:cNvSpPr/>
          <p:nvPr/>
        </p:nvSpPr>
        <p:spPr>
          <a:xfrm>
            <a:off x="8961120" y="2377440"/>
            <a:ext cx="502920" cy="50292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2" name="mesh-node 3"/>
          <p:cNvSpPr/>
          <p:nvPr/>
        </p:nvSpPr>
        <p:spPr>
          <a:xfrm>
            <a:off x="11247120" y="2468880"/>
            <a:ext cx="502920" cy="50292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3" name="mesh-node 4"/>
          <p:cNvSpPr/>
          <p:nvPr/>
        </p:nvSpPr>
        <p:spPr>
          <a:xfrm>
            <a:off x="8778240" y="5029200"/>
            <a:ext cx="502920" cy="50292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mesh-node 5"/>
          <p:cNvSpPr/>
          <p:nvPr/>
        </p:nvSpPr>
        <p:spPr>
          <a:xfrm>
            <a:off x="11338560" y="4937760"/>
            <a:ext cx="502920" cy="50292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BFD6E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9BBE766A-8181-AA0D-D4DB-2F5C10B298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75051"/>
            <a:ext cx="2480834" cy="3562783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6B7A4A1F-D63A-1CEF-1D6E-490B9925CE43}"/>
              </a:ext>
            </a:extLst>
          </p:cNvPr>
          <p:cNvSpPr/>
          <p:nvPr/>
        </p:nvSpPr>
        <p:spPr>
          <a:xfrm>
            <a:off x="3776319" y="2776611"/>
            <a:ext cx="4639362" cy="169277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NL" sz="3200" b="1" dirty="0" err="1">
                <a:solidFill>
                  <a:schemeClr val="bg1"/>
                </a:solidFill>
              </a:rPr>
              <a:t>Waarschuwingen</a:t>
            </a:r>
            <a:r>
              <a:rPr lang="en-NL" sz="3200" b="1" dirty="0">
                <a:solidFill>
                  <a:schemeClr val="bg1"/>
                </a:solidFill>
              </a:rPr>
              <a:t> </a:t>
            </a:r>
          </a:p>
          <a:p>
            <a:r>
              <a:rPr lang="en-NL" b="1" dirty="0">
                <a:solidFill>
                  <a:schemeClr val="bg1"/>
                </a:solidFill>
              </a:rPr>
              <a:t>Zet </a:t>
            </a:r>
            <a:r>
              <a:rPr lang="en-NL" b="1" dirty="0">
                <a:solidFill>
                  <a:srgbClr val="FF0000"/>
                </a:solidFill>
              </a:rPr>
              <a:t>NOOIT</a:t>
            </a:r>
            <a:r>
              <a:rPr lang="en-NL" b="1" dirty="0">
                <a:solidFill>
                  <a:schemeClr val="bg1"/>
                </a:solidFill>
              </a:rPr>
              <a:t> spanning op het </a:t>
            </a:r>
            <a:r>
              <a:rPr lang="en-NL" b="1" dirty="0" err="1">
                <a:solidFill>
                  <a:schemeClr val="bg1"/>
                </a:solidFill>
              </a:rPr>
              <a:t>Heltec</a:t>
            </a:r>
            <a:r>
              <a:rPr lang="en-NL" b="1" dirty="0">
                <a:solidFill>
                  <a:schemeClr val="bg1"/>
                </a:solidFill>
              </a:rPr>
              <a:t> board </a:t>
            </a:r>
            <a:r>
              <a:rPr lang="en-NL" b="1" dirty="0" err="1">
                <a:solidFill>
                  <a:schemeClr val="bg1"/>
                </a:solidFill>
              </a:rPr>
              <a:t>als</a:t>
            </a:r>
            <a:r>
              <a:rPr lang="en-NL" b="1" dirty="0">
                <a:solidFill>
                  <a:schemeClr val="bg1"/>
                </a:solidFill>
              </a:rPr>
              <a:t> de externe </a:t>
            </a:r>
            <a:r>
              <a:rPr lang="en-NL" b="1" dirty="0" err="1">
                <a:solidFill>
                  <a:schemeClr val="bg1"/>
                </a:solidFill>
              </a:rPr>
              <a:t>antenne</a:t>
            </a:r>
            <a:r>
              <a:rPr lang="en-NL" b="1" dirty="0">
                <a:solidFill>
                  <a:schemeClr val="bg1"/>
                </a:solidFill>
              </a:rPr>
              <a:t> </a:t>
            </a:r>
            <a:r>
              <a:rPr lang="en-NL" b="1" dirty="0" err="1">
                <a:solidFill>
                  <a:schemeClr val="bg1"/>
                </a:solidFill>
              </a:rPr>
              <a:t>niet</a:t>
            </a:r>
            <a:r>
              <a:rPr lang="en-NL" b="1" dirty="0">
                <a:solidFill>
                  <a:schemeClr val="bg1"/>
                </a:solidFill>
              </a:rPr>
              <a:t> </a:t>
            </a:r>
            <a:r>
              <a:rPr lang="en-NL" b="1" dirty="0" err="1">
                <a:solidFill>
                  <a:schemeClr val="bg1"/>
                </a:solidFill>
              </a:rPr>
              <a:t>aangesloten</a:t>
            </a:r>
            <a:r>
              <a:rPr lang="en-NL" b="1" dirty="0">
                <a:solidFill>
                  <a:schemeClr val="bg1"/>
                </a:solidFill>
              </a:rPr>
              <a:t> is. </a:t>
            </a:r>
            <a:endParaRPr lang="en-NL" dirty="0">
              <a:solidFill>
                <a:schemeClr val="bg1"/>
              </a:solidFill>
            </a:endParaRPr>
          </a:p>
          <a:p>
            <a:r>
              <a:rPr lang="en-NL" b="1" dirty="0">
                <a:solidFill>
                  <a:schemeClr val="bg1"/>
                </a:solidFill>
              </a:rPr>
              <a:t>Doe je </a:t>
            </a:r>
            <a:r>
              <a:rPr lang="en-NL" b="1" dirty="0" err="1">
                <a:solidFill>
                  <a:schemeClr val="bg1"/>
                </a:solidFill>
              </a:rPr>
              <a:t>dat</a:t>
            </a:r>
            <a:r>
              <a:rPr lang="en-NL" b="1" dirty="0">
                <a:solidFill>
                  <a:schemeClr val="bg1"/>
                </a:solidFill>
              </a:rPr>
              <a:t> </a:t>
            </a:r>
            <a:r>
              <a:rPr lang="en-NL" b="1" dirty="0" err="1">
                <a:solidFill>
                  <a:schemeClr val="bg1"/>
                </a:solidFill>
              </a:rPr>
              <a:t>wel</a:t>
            </a:r>
            <a:r>
              <a:rPr lang="en-NL" b="1" dirty="0">
                <a:solidFill>
                  <a:schemeClr val="bg1"/>
                </a:solidFill>
              </a:rPr>
              <a:t>, dan is de </a:t>
            </a:r>
            <a:r>
              <a:rPr lang="en-NL" b="1" dirty="0" err="1">
                <a:solidFill>
                  <a:schemeClr val="bg1"/>
                </a:solidFill>
              </a:rPr>
              <a:t>kans</a:t>
            </a:r>
            <a:r>
              <a:rPr lang="en-NL" b="1" dirty="0">
                <a:solidFill>
                  <a:schemeClr val="bg1"/>
                </a:solidFill>
              </a:rPr>
              <a:t> </a:t>
            </a:r>
            <a:r>
              <a:rPr lang="en-NL" b="1" dirty="0" err="1">
                <a:solidFill>
                  <a:schemeClr val="bg1"/>
                </a:solidFill>
              </a:rPr>
              <a:t>groot</a:t>
            </a:r>
            <a:r>
              <a:rPr lang="en-NL" b="1" dirty="0">
                <a:solidFill>
                  <a:schemeClr val="bg1"/>
                </a:solidFill>
              </a:rPr>
              <a:t> </a:t>
            </a:r>
            <a:r>
              <a:rPr lang="en-NL" b="1" dirty="0" err="1">
                <a:solidFill>
                  <a:schemeClr val="bg1"/>
                </a:solidFill>
              </a:rPr>
              <a:t>dat</a:t>
            </a:r>
            <a:r>
              <a:rPr lang="en-NL" b="1" dirty="0">
                <a:solidFill>
                  <a:schemeClr val="bg1"/>
                </a:solidFill>
              </a:rPr>
              <a:t> je de LORA chip </a:t>
            </a:r>
            <a:r>
              <a:rPr lang="en-NL" b="1" dirty="0" err="1">
                <a:solidFill>
                  <a:schemeClr val="bg1"/>
                </a:solidFill>
              </a:rPr>
              <a:t>opblaast</a:t>
            </a:r>
            <a:r>
              <a:rPr lang="en-NL" b="1" dirty="0">
                <a:solidFill>
                  <a:schemeClr val="bg1"/>
                </a:solidFill>
              </a:rPr>
              <a:t>.</a:t>
            </a:r>
            <a:endParaRPr lang="en-NL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CFCE9-12CF-354F-7B5B-9CD20E9C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>
            <a:extLst>
              <a:ext uri="{FF2B5EF4-FFF2-40B4-BE49-F238E27FC236}">
                <a16:creationId xmlns:a16="http://schemas.microsoft.com/office/drawing/2014/main" id="{949B71A1-0A71-185D-02E3-083813F3B5B7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xfrm>
            <a:off x="548640" y="137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Live demo: </a:t>
            </a:r>
            <a:r>
              <a:rPr lang="en-US" sz="3200" b="1" dirty="0" err="1">
                <a:solidFill>
                  <a:schemeClr val="bg1"/>
                </a:solidFill>
              </a:rPr>
              <a:t>iedereen</a:t>
            </a:r>
            <a:r>
              <a:rPr lang="en-US" sz="3200" b="1" dirty="0">
                <a:solidFill>
                  <a:schemeClr val="bg1"/>
                </a:solidFill>
              </a:rPr>
              <a:t> </a:t>
            </a:r>
            <a:r>
              <a:rPr lang="en-US" sz="3200" b="1" dirty="0" err="1">
                <a:solidFill>
                  <a:schemeClr val="bg1"/>
                </a:solidFill>
              </a:rPr>
              <a:t>kan</a:t>
            </a:r>
            <a:r>
              <a:rPr lang="en-US" sz="3200" b="1" dirty="0">
                <a:solidFill>
                  <a:schemeClr val="bg1"/>
                </a:solidFill>
              </a:rPr>
              <a:t> mee </a:t>
            </a:r>
            <a:r>
              <a:rPr lang="en-US" sz="3200" b="1" dirty="0" err="1">
                <a:solidFill>
                  <a:schemeClr val="bg1"/>
                </a:solidFill>
              </a:rPr>
              <a:t>doen</a:t>
            </a:r>
            <a:endParaRPr lang="en-US" sz="3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92D8057-912B-A681-1773-C01EC475DDF0}"/>
              </a:ext>
            </a:extLst>
          </p:cNvPr>
          <p:cNvSpPr txBox="1"/>
          <p:nvPr/>
        </p:nvSpPr>
        <p:spPr>
          <a:xfrm>
            <a:off x="548640" y="1298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Pak je </a:t>
            </a:r>
            <a:r>
              <a:rPr lang="en-US" sz="1600" i="1" dirty="0" err="1">
                <a:solidFill>
                  <a:schemeClr val="accent6"/>
                </a:solidFill>
              </a:rPr>
              <a:t>telefoon</a:t>
            </a:r>
            <a:r>
              <a:rPr lang="en-US" sz="1600" i="1" dirty="0">
                <a:solidFill>
                  <a:schemeClr val="accent6"/>
                </a:solidFill>
              </a:rPr>
              <a:t> of laptop </a:t>
            </a:r>
            <a:r>
              <a:rPr lang="en-US" sz="1600" i="1" dirty="0" err="1">
                <a:solidFill>
                  <a:schemeClr val="accent6"/>
                </a:solidFill>
              </a:rPr>
              <a:t>erbij</a:t>
            </a:r>
            <a:endParaRPr lang="en-US" sz="1600" dirty="0"/>
          </a:p>
        </p:txBody>
      </p:sp>
      <p:sp>
        <p:nvSpPr>
          <p:cNvPr id="4" name="stap 1">
            <a:extLst>
              <a:ext uri="{FF2B5EF4-FFF2-40B4-BE49-F238E27FC236}">
                <a16:creationId xmlns:a16="http://schemas.microsoft.com/office/drawing/2014/main" id="{643E5EAB-394D-E4B3-FF34-0AAA895775A6}"/>
              </a:ext>
            </a:extLst>
          </p:cNvPr>
          <p:cNvSpPr/>
          <p:nvPr/>
        </p:nvSpPr>
        <p:spPr>
          <a:xfrm>
            <a:off x="548640" y="2057400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D84560A-D976-CE3E-B0DE-5C967A5C0686}"/>
              </a:ext>
            </a:extLst>
          </p:cNvPr>
          <p:cNvSpPr txBox="1"/>
          <p:nvPr/>
        </p:nvSpPr>
        <p:spPr>
          <a:xfrm>
            <a:off x="548640" y="205740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EB88944-8EC3-8675-4CC0-F7F93A33443A}"/>
              </a:ext>
            </a:extLst>
          </p:cNvPr>
          <p:cNvSpPr txBox="1"/>
          <p:nvPr/>
        </p:nvSpPr>
        <p:spPr>
          <a:xfrm>
            <a:off x="1463040" y="2075688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bg1"/>
                </a:solidFill>
              </a:rPr>
              <a:t>Open de MeshCore-webclient of -app op je telefoon</a:t>
            </a:r>
            <a:endParaRPr lang="en-US" sz="1900" dirty="0"/>
          </a:p>
        </p:txBody>
      </p:sp>
      <p:sp>
        <p:nvSpPr>
          <p:cNvPr id="7" name="stap 2">
            <a:extLst>
              <a:ext uri="{FF2B5EF4-FFF2-40B4-BE49-F238E27FC236}">
                <a16:creationId xmlns:a16="http://schemas.microsoft.com/office/drawing/2014/main" id="{112BD9E2-238D-B000-8AEE-5EBF17FDFFEF}"/>
              </a:ext>
            </a:extLst>
          </p:cNvPr>
          <p:cNvSpPr/>
          <p:nvPr/>
        </p:nvSpPr>
        <p:spPr>
          <a:xfrm>
            <a:off x="548640" y="3081528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852838C-EEB7-5B0E-17FD-5FE0D9E369AF}"/>
              </a:ext>
            </a:extLst>
          </p:cNvPr>
          <p:cNvSpPr txBox="1"/>
          <p:nvPr/>
        </p:nvSpPr>
        <p:spPr>
          <a:xfrm>
            <a:off x="548640" y="30815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443BB17-1E11-9C66-BF3B-C605BA932009}"/>
              </a:ext>
            </a:extLst>
          </p:cNvPr>
          <p:cNvSpPr txBox="1"/>
          <p:nvPr/>
        </p:nvSpPr>
        <p:spPr>
          <a:xfrm>
            <a:off x="1463040" y="3099816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bg1"/>
                </a:solidFill>
              </a:rPr>
              <a:t>Verbind met de companion</a:t>
            </a:r>
            <a:endParaRPr lang="en-US" sz="1900" dirty="0"/>
          </a:p>
        </p:txBody>
      </p:sp>
      <p:sp>
        <p:nvSpPr>
          <p:cNvPr id="10" name="stap 3">
            <a:extLst>
              <a:ext uri="{FF2B5EF4-FFF2-40B4-BE49-F238E27FC236}">
                <a16:creationId xmlns:a16="http://schemas.microsoft.com/office/drawing/2014/main" id="{CB13DF9A-33A3-887E-0043-94C98AB8EF45}"/>
              </a:ext>
            </a:extLst>
          </p:cNvPr>
          <p:cNvSpPr/>
          <p:nvPr/>
        </p:nvSpPr>
        <p:spPr>
          <a:xfrm>
            <a:off x="548640" y="4105656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048BC87-2FB9-8380-AB88-6B1ED217C4BC}"/>
              </a:ext>
            </a:extLst>
          </p:cNvPr>
          <p:cNvSpPr txBox="1"/>
          <p:nvPr/>
        </p:nvSpPr>
        <p:spPr>
          <a:xfrm>
            <a:off x="548640" y="41056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49E0590-FEDF-5326-E9CC-ECE65381A7D2}"/>
              </a:ext>
            </a:extLst>
          </p:cNvPr>
          <p:cNvSpPr txBox="1"/>
          <p:nvPr/>
        </p:nvSpPr>
        <p:spPr>
          <a:xfrm>
            <a:off x="1463040" y="4123944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bg1"/>
                </a:solidFill>
              </a:rPr>
              <a:t>Stuur samen een bericht in het #Public </a:t>
            </a:r>
            <a:r>
              <a:rPr lang="en-US" sz="1900" dirty="0" err="1">
                <a:solidFill>
                  <a:schemeClr val="bg1"/>
                </a:solidFill>
              </a:rPr>
              <a:t>kanaal</a:t>
            </a:r>
            <a:endParaRPr lang="en-US" sz="1900" dirty="0"/>
          </a:p>
        </p:txBody>
      </p:sp>
      <p:sp>
        <p:nvSpPr>
          <p:cNvPr id="13" name="stap 4">
            <a:extLst>
              <a:ext uri="{FF2B5EF4-FFF2-40B4-BE49-F238E27FC236}">
                <a16:creationId xmlns:a16="http://schemas.microsoft.com/office/drawing/2014/main" id="{FEB19813-5C00-8FC4-38BA-02D54CE0D174}"/>
              </a:ext>
            </a:extLst>
          </p:cNvPr>
          <p:cNvSpPr/>
          <p:nvPr/>
        </p:nvSpPr>
        <p:spPr>
          <a:xfrm>
            <a:off x="548640" y="5129784"/>
            <a:ext cx="603504" cy="603504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D756FC7-E1CF-FC15-0E98-EC68318068DF}"/>
              </a:ext>
            </a:extLst>
          </p:cNvPr>
          <p:cNvSpPr txBox="1"/>
          <p:nvPr/>
        </p:nvSpPr>
        <p:spPr>
          <a:xfrm>
            <a:off x="548640" y="512978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3F170B2-37F2-AC53-7480-16378A373440}"/>
              </a:ext>
            </a:extLst>
          </p:cNvPr>
          <p:cNvSpPr txBox="1"/>
          <p:nvPr/>
        </p:nvSpPr>
        <p:spPr>
          <a:xfrm>
            <a:off x="1463040" y="514807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chemeClr val="bg1"/>
                </a:solidFill>
              </a:rPr>
              <a:t>Bekijk hoe "repeats" oplopen naarmate je bericht doorspringt</a:t>
            </a:r>
            <a:endParaRPr lang="en-US" sz="1900" dirty="0"/>
          </a:p>
        </p:txBody>
      </p:sp>
      <p:sp>
        <p:nvSpPr>
          <p:cNvPr id="16" name="mesh-lijn 1">
            <a:extLst>
              <a:ext uri="{FF2B5EF4-FFF2-40B4-BE49-F238E27FC236}">
                <a16:creationId xmlns:a16="http://schemas.microsoft.com/office/drawing/2014/main" id="{122DFDD3-90A0-0502-47B5-BD29C625DB22}"/>
              </a:ext>
            </a:extLst>
          </p:cNvPr>
          <p:cNvSpPr/>
          <p:nvPr/>
        </p:nvSpPr>
        <p:spPr>
          <a:xfrm>
            <a:off x="9212580" y="2628900"/>
            <a:ext cx="1257300" cy="153162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mesh-lijn 2">
            <a:extLst>
              <a:ext uri="{FF2B5EF4-FFF2-40B4-BE49-F238E27FC236}">
                <a16:creationId xmlns:a16="http://schemas.microsoft.com/office/drawing/2014/main" id="{C67F52A6-2048-52EC-D26A-C78F0CBFE99F}"/>
              </a:ext>
            </a:extLst>
          </p:cNvPr>
          <p:cNvSpPr/>
          <p:nvPr/>
        </p:nvSpPr>
        <p:spPr>
          <a:xfrm flipV="1">
            <a:off x="10469880" y="2720340"/>
            <a:ext cx="1028700" cy="144018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mesh-lijn 3">
            <a:extLst>
              <a:ext uri="{FF2B5EF4-FFF2-40B4-BE49-F238E27FC236}">
                <a16:creationId xmlns:a16="http://schemas.microsoft.com/office/drawing/2014/main" id="{5AE5CEEF-945E-42ED-E729-4F898D8163AD}"/>
              </a:ext>
            </a:extLst>
          </p:cNvPr>
          <p:cNvSpPr/>
          <p:nvPr/>
        </p:nvSpPr>
        <p:spPr>
          <a:xfrm flipV="1">
            <a:off x="9029700" y="4160520"/>
            <a:ext cx="1440180" cy="112014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9" name="mesh-lijn 4">
            <a:extLst>
              <a:ext uri="{FF2B5EF4-FFF2-40B4-BE49-F238E27FC236}">
                <a16:creationId xmlns:a16="http://schemas.microsoft.com/office/drawing/2014/main" id="{299D19DA-8CD0-DC93-ED99-DC183E4C1EFF}"/>
              </a:ext>
            </a:extLst>
          </p:cNvPr>
          <p:cNvSpPr/>
          <p:nvPr/>
        </p:nvSpPr>
        <p:spPr>
          <a:xfrm>
            <a:off x="10469880" y="4160520"/>
            <a:ext cx="1120140" cy="102870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mesh-node 1">
            <a:extLst>
              <a:ext uri="{FF2B5EF4-FFF2-40B4-BE49-F238E27FC236}">
                <a16:creationId xmlns:a16="http://schemas.microsoft.com/office/drawing/2014/main" id="{855EC5F6-EF54-8870-D272-4D509214F7B5}"/>
              </a:ext>
            </a:extLst>
          </p:cNvPr>
          <p:cNvSpPr/>
          <p:nvPr/>
        </p:nvSpPr>
        <p:spPr>
          <a:xfrm>
            <a:off x="10058400" y="3749040"/>
            <a:ext cx="822960" cy="82296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1" name="mesh-node 2">
            <a:extLst>
              <a:ext uri="{FF2B5EF4-FFF2-40B4-BE49-F238E27FC236}">
                <a16:creationId xmlns:a16="http://schemas.microsoft.com/office/drawing/2014/main" id="{26090086-FB8A-728F-969E-0981A17167F9}"/>
              </a:ext>
            </a:extLst>
          </p:cNvPr>
          <p:cNvSpPr/>
          <p:nvPr/>
        </p:nvSpPr>
        <p:spPr>
          <a:xfrm>
            <a:off x="8961120" y="2377440"/>
            <a:ext cx="502920" cy="50292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2" name="mesh-node 3">
            <a:extLst>
              <a:ext uri="{FF2B5EF4-FFF2-40B4-BE49-F238E27FC236}">
                <a16:creationId xmlns:a16="http://schemas.microsoft.com/office/drawing/2014/main" id="{467E4C42-2F72-F82F-1F51-60FCFC0FA451}"/>
              </a:ext>
            </a:extLst>
          </p:cNvPr>
          <p:cNvSpPr/>
          <p:nvPr/>
        </p:nvSpPr>
        <p:spPr>
          <a:xfrm>
            <a:off x="11247120" y="2468880"/>
            <a:ext cx="502920" cy="50292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3" name="mesh-node 4">
            <a:extLst>
              <a:ext uri="{FF2B5EF4-FFF2-40B4-BE49-F238E27FC236}">
                <a16:creationId xmlns:a16="http://schemas.microsoft.com/office/drawing/2014/main" id="{9E0EF53D-01D3-6179-A181-9A270B3885A8}"/>
              </a:ext>
            </a:extLst>
          </p:cNvPr>
          <p:cNvSpPr/>
          <p:nvPr/>
        </p:nvSpPr>
        <p:spPr>
          <a:xfrm>
            <a:off x="8778240" y="5029200"/>
            <a:ext cx="502920" cy="50292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4" name="mesh-node 5">
            <a:extLst>
              <a:ext uri="{FF2B5EF4-FFF2-40B4-BE49-F238E27FC236}">
                <a16:creationId xmlns:a16="http://schemas.microsoft.com/office/drawing/2014/main" id="{B80BDB72-0FC9-73A1-2118-AEC0576A3E95}"/>
              </a:ext>
            </a:extLst>
          </p:cNvPr>
          <p:cNvSpPr/>
          <p:nvPr/>
        </p:nvSpPr>
        <p:spPr>
          <a:xfrm>
            <a:off x="11338560" y="4937760"/>
            <a:ext cx="502920" cy="50292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5588C02B-7E65-196D-6AD6-E841A0C3A2D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D6E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9757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137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Mijn ervaringen tot nu toe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98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Wat ik tegenkwam — en wat ik ervan leerde</a:t>
            </a:r>
            <a:endParaRPr lang="en-US" sz="1600" dirty="0"/>
          </a:p>
        </p:txBody>
      </p:sp>
      <p:sp>
        <p:nvSpPr>
          <p:cNvPr id="4" name="Kaart Flashen &amp; instellen"/>
          <p:cNvSpPr/>
          <p:nvPr/>
        </p:nvSpPr>
        <p:spPr>
          <a:xfrm>
            <a:off x="548640" y="1828800"/>
            <a:ext cx="1109167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" name="Flashen &amp; instellen badge"/>
          <p:cNvSpPr/>
          <p:nvPr/>
        </p:nvSpPr>
        <p:spPr>
          <a:xfrm>
            <a:off x="777240" y="202996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6" name="Flashen &amp; instellen icoon" descr="Flashen &amp; instell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67128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01952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Flashen &amp; instellen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1901952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Preset, regio (868 MHz NL) en path-hash-grootte kloppend krijgen — kleine dingen die veel verschil maken.</a:t>
            </a:r>
            <a:endParaRPr lang="en-US" sz="1400" dirty="0"/>
          </a:p>
        </p:txBody>
      </p:sp>
      <p:sp>
        <p:nvSpPr>
          <p:cNvPr id="9" name="Kaart &quot;Ik zie alleen mezelf op de analyzer&quot;"/>
          <p:cNvSpPr/>
          <p:nvPr/>
        </p:nvSpPr>
        <p:spPr>
          <a:xfrm>
            <a:off x="548640" y="2926080"/>
            <a:ext cx="1109167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0" name="&quot;Ik zie alleen mezelf op de analyzer&quot; badge"/>
          <p:cNvSpPr/>
          <p:nvPr/>
        </p:nvSpPr>
        <p:spPr>
          <a:xfrm>
            <a:off x="777240" y="312724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11" name="&quot;Ik zie alleen mezelf op de analyzer&quot; icoon" descr="&quot;Ik zie alleen mezelf op de analyzer&quot;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26440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600200" y="2999232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"Ik zie alleen mezelf op de analyzer"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852160" y="2999232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Bleek te maken te hebben met region-instellingen die niet aansloten bij de rest van het lokale netwerk.</a:t>
            </a:r>
            <a:endParaRPr lang="en-US" sz="1400" dirty="0"/>
          </a:p>
        </p:txBody>
      </p:sp>
      <p:sp>
        <p:nvSpPr>
          <p:cNvPr id="14" name="Kaart Overleg met de community"/>
          <p:cNvSpPr/>
          <p:nvPr/>
        </p:nvSpPr>
        <p:spPr>
          <a:xfrm>
            <a:off x="548640" y="4023360"/>
            <a:ext cx="1109167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Overleg met de community badge"/>
          <p:cNvSpPr/>
          <p:nvPr/>
        </p:nvSpPr>
        <p:spPr>
          <a:xfrm>
            <a:off x="777240" y="422452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16" name="Overleg met de community icoon" descr="Overleg met de communit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61688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4096512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Overleg met de community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5852160" y="4096512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Regio-afspraken en path-hash-grootte werken pas goed als de meeste repeaters in de buurt hetzelfde doen.</a:t>
            </a:r>
            <a:endParaRPr lang="en-US" sz="1400" dirty="0"/>
          </a:p>
        </p:txBody>
      </p:sp>
      <p:sp>
        <p:nvSpPr>
          <p:cNvPr id="19" name="Kaart Hardware-avonturen"/>
          <p:cNvSpPr/>
          <p:nvPr/>
        </p:nvSpPr>
        <p:spPr>
          <a:xfrm>
            <a:off x="548640" y="5120640"/>
            <a:ext cx="11091672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Hardware-avonturen badge"/>
          <p:cNvSpPr/>
          <p:nvPr/>
        </p:nvSpPr>
        <p:spPr>
          <a:xfrm>
            <a:off x="777240" y="532180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21" name="Hardware-avonturen icoon" descr="Hardware-avonture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458968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00200" y="5193792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Hardware-avonturen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5852160" y="5193792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Een oude Arduino Uno + Dragino LoRaShield bleek niet krachtig genoeg voor MeshCore — leerzaam om te ontdekken waarom.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5667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1371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</a:rPr>
              <a:t>Afsluiting &amp; vooruitblik</a:t>
            </a:r>
            <a:endParaRPr lang="en-US" sz="3200" dirty="0"/>
          </a:p>
        </p:txBody>
      </p:sp>
      <p:sp>
        <p:nvSpPr>
          <p:cNvPr id="3" name="Kaart verder lezen"/>
          <p:cNvSpPr/>
          <p:nvPr/>
        </p:nvSpPr>
        <p:spPr>
          <a:xfrm>
            <a:off x="548640" y="1554480"/>
            <a:ext cx="5440680" cy="4160520"/>
          </a:xfrm>
          <a:prstGeom prst="roundRect">
            <a:avLst>
              <a:gd name="adj" fmla="val 2637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4" name="Verder lezen badge"/>
          <p:cNvSpPr/>
          <p:nvPr/>
        </p:nvSpPr>
        <p:spPr>
          <a:xfrm>
            <a:off x="822960" y="182880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5" name="Verder lezen icoon" descr="Verder lez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1970532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82880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</a:rPr>
              <a:t>Verder lezen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743200"/>
            <a:ext cx="48006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docs.meshcore.io — documentatie</a:t>
            </a:r>
            <a:endParaRPr lang="en-US" sz="1800" dirty="0"/>
          </a:p>
          <a:p>
            <a:pPr marL="228600" indent="-2286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GitHub meshcore-dev/MeshCore — broncode &amp; wiki</a:t>
            </a:r>
            <a:endParaRPr lang="en-US" sz="1800" dirty="0"/>
          </a:p>
          <a:p>
            <a:pPr marL="228600" indent="-2286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MeshCore Discord — vragen &amp; community</a:t>
            </a:r>
            <a:endParaRPr lang="en-US" sz="1800" dirty="0"/>
          </a:p>
          <a:p>
            <a:pPr marL="228600" indent="-228600">
              <a:spcAft>
                <a:spcPts val="1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map.meshcore.io — live netwerkkaart</a:t>
            </a:r>
            <a:endParaRPr lang="en-US" sz="1800" dirty="0"/>
          </a:p>
        </p:txBody>
      </p:sp>
      <p:sp>
        <p:nvSpPr>
          <p:cNvPr id="8" name="Kaart volgende avonden"/>
          <p:cNvSpPr/>
          <p:nvPr/>
        </p:nvSpPr>
        <p:spPr>
          <a:xfrm>
            <a:off x="6199632" y="1554480"/>
            <a:ext cx="5440680" cy="4160520"/>
          </a:xfrm>
          <a:prstGeom prst="roundRect">
            <a:avLst>
              <a:gd name="adj" fmla="val 2637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9" name="Volgende avonden badge"/>
          <p:cNvSpPr/>
          <p:nvPr/>
        </p:nvSpPr>
        <p:spPr>
          <a:xfrm>
            <a:off x="6473952" y="182880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pic>
        <p:nvPicPr>
          <p:cNvPr id="10" name="Volgende avonden icoon" descr="Volgende avond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4" y="197053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05472" y="182880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</a:rPr>
              <a:t>Volgende avonden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6519672" y="27432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Dinsdag 10 november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6519672" y="310896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Repeaters, room servers &amp; sensoren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519672" y="36576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chemeClr val="bg1"/>
                </a:solidFill>
              </a:rPr>
              <a:t>Dinsdag 24 november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6519672" y="402336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Zelf programmeren met Python</a:t>
            </a:r>
            <a:endParaRPr lang="en-US" sz="1600" dirty="0"/>
          </a:p>
        </p:txBody>
      </p:sp>
      <p:sp>
        <p:nvSpPr>
          <p:cNvPr id="16" name="scheidingslijn"/>
          <p:cNvSpPr/>
          <p:nvPr/>
        </p:nvSpPr>
        <p:spPr>
          <a:xfrm>
            <a:off x="6519672" y="4617720"/>
            <a:ext cx="4800600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Text 13"/>
          <p:cNvSpPr txBox="1"/>
          <p:nvPr/>
        </p:nvSpPr>
        <p:spPr>
          <a:xfrm>
            <a:off x="6519672" y="475488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2"/>
                </a:solidFill>
              </a:rPr>
              <a:t>Aanmelden per avond via Meetup: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519672" y="50749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</a:rPr>
              <a:t>meetup.com/nl-NL/vughtse-programmeerclub</a:t>
            </a:r>
            <a:endParaRPr lang="en-US" sz="1700" dirty="0"/>
          </a:p>
        </p:txBody>
      </p:sp>
      <p:sp>
        <p:nvSpPr>
          <p:cNvPr id="19" name="Vragen-label"/>
          <p:cNvSpPr/>
          <p:nvPr/>
        </p:nvSpPr>
        <p:spPr>
          <a:xfrm>
            <a:off x="548640" y="5879592"/>
            <a:ext cx="155448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/>
          <a:lstStyle/>
          <a:p>
            <a:endParaRPr lang="en-NL"/>
          </a:p>
        </p:txBody>
      </p:sp>
      <p:sp>
        <p:nvSpPr>
          <p:cNvPr id="20" name="Text 16"/>
          <p:cNvSpPr txBox="1"/>
          <p:nvPr/>
        </p:nvSpPr>
        <p:spPr>
          <a:xfrm>
            <a:off x="548640" y="58795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bg1"/>
                </a:solidFill>
              </a:rPr>
              <a:t>Vragen?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2331720" y="5879592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Nu is er ruimte — en daarna kun je verder experimenteren met de webapp.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BFD6E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ughtse Programmeer Club">
  <a:themeElements>
    <a:clrScheme name="Vughtse Programmeer Club">
      <a:dk1>
        <a:srgbClr val="1A2A36"/>
      </a:dk1>
      <a:lt1>
        <a:srgbClr val="FFFFFF"/>
      </a:lt1>
      <a:dk2>
        <a:srgbClr val="043C61"/>
      </a:dk2>
      <a:lt2>
        <a:srgbClr val="EEF4FA"/>
      </a:lt2>
      <a:accent1>
        <a:srgbClr val="0C66B4"/>
      </a:accent1>
      <a:accent2>
        <a:srgbClr val="DE4D04"/>
      </a:accent2>
      <a:accent3>
        <a:srgbClr val="3F8AD0"/>
      </a:accent3>
      <a:accent4>
        <a:srgbClr val="F28C4B"/>
      </a:accent4>
      <a:accent5>
        <a:srgbClr val="556675"/>
      </a:accent5>
      <a:accent6>
        <a:srgbClr val="BFD6EC"/>
      </a:accent6>
      <a:hlink>
        <a:srgbClr val="0C66B4"/>
      </a:hlink>
      <a:folHlink>
        <a:srgbClr val="556675"/>
      </a:folHlink>
    </a:clrScheme>
    <a:fontScheme name="Vughtse Programmeer Club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776</Words>
  <Application>Microsoft Office PowerPoint</Application>
  <PresentationFormat>Widescreen</PresentationFormat>
  <Paragraphs>125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Vughtse Programmeer Club</vt:lpstr>
      <vt:lpstr>PowerPoint Presentation</vt:lpstr>
      <vt:lpstr>MeshCore vs. Meshtastic</vt:lpstr>
      <vt:lpstr>Werkt zonder internet</vt:lpstr>
      <vt:lpstr>Wat is MeshCore?</vt:lpstr>
      <vt:lpstr>De basis-concepten</vt:lpstr>
      <vt:lpstr>Wat heb je nodig?</vt:lpstr>
      <vt:lpstr>Live flashen: iedereen kan mee doen</vt:lpstr>
      <vt:lpstr>Live demo: iedereen kan mee doen</vt:lpstr>
      <vt:lpstr>Mijn ervaringen tot nu toe</vt:lpstr>
      <vt:lpstr>Afsluiting &amp; vooruitblik</vt:lpstr>
    </vt:vector>
  </TitlesOfParts>
  <Company>Vughtse Programmeer Club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MeshCore Avond 1 - Introductie en eerste connectie</dc:title>
  <dc:subject>PptxGenJS Presentation</dc:subject>
  <dc:creator>Vughtse Programmeer Club</dc:creator>
  <cp:lastModifiedBy>Rudy Beset (TNIS)</cp:lastModifiedBy>
  <cp:revision>3</cp:revision>
  <dcterms:created xsi:type="dcterms:W3CDTF">2026-10-13T06:47:24Z</dcterms:created>
  <dcterms:modified xsi:type="dcterms:W3CDTF">2026-10-13T07:03:34Z</dcterms:modified>
</cp:coreProperties>
</file>