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EA7DD5B-1F7D-4343-B33B-79F428F7B79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1D7A06C-F603-4AE8-AED8-9B19AF47C05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25B652A-CA6A-4CA5-B11F-7C82B900E5A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6E48059-F19E-4E47-8764-DAF7327F0FA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5BBEE6A-94DF-4D69-AB1D-AE2853D30F7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A444F8C-2084-44C6-B80B-AB409F78FEF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EF651B8-D743-490B-9F62-E767740926F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EB3E8A4-03FB-41CC-84E5-1980A2256EE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1C3FBD2-CBA7-44F4-8221-631D9CC1EF5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CE4F92E-8BAF-4321-A73B-F7EE1CD7C4D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9418320" y="-1371600"/>
            <a:ext cx="4571280" cy="4571280"/>
          </a:xfrm>
          <a:prstGeom prst="ellipse">
            <a:avLst/>
          </a:prstGeom>
          <a:solidFill>
            <a:srgbClr val="00a896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10607040" y="4297680"/>
            <a:ext cx="3108240" cy="3108240"/>
          </a:xfrm>
          <a:prstGeom prst="ellipse">
            <a:avLst/>
          </a:prstGeom>
          <a:solidFill>
            <a:srgbClr val="02c39a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" name="Image 0" descr="icon_mesh.png"/>
          <p:cNvPicPr/>
          <p:nvPr/>
        </p:nvPicPr>
        <p:blipFill>
          <a:blip r:embed="rId1"/>
          <a:stretch/>
        </p:blipFill>
        <p:spPr>
          <a:xfrm>
            <a:off x="640080" y="685800"/>
            <a:ext cx="639360" cy="63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Text 2"/>
          <p:cNvSpPr/>
          <p:nvPr/>
        </p:nvSpPr>
        <p:spPr>
          <a:xfrm>
            <a:off x="594360" y="1417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4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MESHCORE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548640" y="1874520"/>
            <a:ext cx="1051488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Introductie &amp; Eerste Verbinding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594360" y="3063240"/>
            <a:ext cx="91432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cadcdc"/>
                </a:solidFill>
                <a:effectLst/>
                <a:uFillTx/>
                <a:latin typeface="Calibri"/>
                <a:ea typeface="Calibri"/>
              </a:rPr>
              <a:t>Avond 1,  samen de basis van MeshCore verkennen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5"/>
          <p:cNvSpPr/>
          <p:nvPr/>
        </p:nvSpPr>
        <p:spPr>
          <a:xfrm>
            <a:off x="594360" y="3794760"/>
            <a:ext cx="2011680" cy="360"/>
          </a:xfrm>
          <a:prstGeom prst="line">
            <a:avLst/>
          </a:prstGeom>
          <a:ln w="381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594360" y="3977640"/>
            <a:ext cx="7771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9fc3c6"/>
                </a:solidFill>
                <a:effectLst/>
                <a:uFillTx/>
                <a:latin typeface="Calibri"/>
                <a:ea typeface="Calibri"/>
              </a:rPr>
              <a:t>Geen internet nodig. Berichten springen van apparaat naar apparaat.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" name="" descr=""/>
          <p:cNvPicPr/>
          <p:nvPr/>
        </p:nvPicPr>
        <p:blipFill>
          <a:blip r:embed="rId2"/>
          <a:stretch/>
        </p:blipFill>
        <p:spPr>
          <a:xfrm>
            <a:off x="6132600" y="5029200"/>
            <a:ext cx="6059160" cy="1828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548640" y="457200"/>
            <a:ext cx="9143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b1b1b"/>
                </a:solidFill>
                <a:effectLst/>
                <a:uFillTx/>
                <a:latin typeface="Cambria"/>
                <a:ea typeface="Cambria"/>
              </a:rPr>
              <a:t>MeshCore vs. Meshtastic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548640" y="1051560"/>
            <a:ext cx="9143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Twee bekende mesh-protocollen,  wat is het verschil?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2"/>
          <p:cNvSpPr/>
          <p:nvPr/>
        </p:nvSpPr>
        <p:spPr>
          <a:xfrm>
            <a:off x="548640" y="1691640"/>
            <a:ext cx="5348520" cy="4159800"/>
          </a:xfrm>
          <a:prstGeom prst="roundRect">
            <a:avLst>
              <a:gd name="adj" fmla="val 2637"/>
            </a:avLst>
          </a:prstGeom>
          <a:solidFill>
            <a:srgbClr val="f2f7f7"/>
          </a:solidFill>
          <a:ln w="12700">
            <a:solidFill>
              <a:srgbClr val="dce9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3"/>
          <p:cNvSpPr/>
          <p:nvPr/>
        </p:nvSpPr>
        <p:spPr>
          <a:xfrm>
            <a:off x="777240" y="1901880"/>
            <a:ext cx="456480" cy="456480"/>
          </a:xfrm>
          <a:prstGeom prst="roundRect">
            <a:avLst>
              <a:gd name="adj" fmla="val 50000"/>
            </a:avLst>
          </a:prstGeom>
          <a:solidFill>
            <a:srgbClr val="5c6b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" name="Image 0" descr="icon_wifi_white.png"/>
          <p:cNvPicPr/>
          <p:nvPr/>
        </p:nvPicPr>
        <p:blipFill>
          <a:blip r:embed="rId1"/>
          <a:stretch/>
        </p:blipFill>
        <p:spPr>
          <a:xfrm>
            <a:off x="887040" y="2011680"/>
            <a:ext cx="2368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 4"/>
          <p:cNvSpPr/>
          <p:nvPr/>
        </p:nvSpPr>
        <p:spPr>
          <a:xfrm>
            <a:off x="1417320" y="1920240"/>
            <a:ext cx="4296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Meshtastic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5"/>
          <p:cNvSpPr/>
          <p:nvPr/>
        </p:nvSpPr>
        <p:spPr>
          <a:xfrm>
            <a:off x="868680" y="2514600"/>
            <a:ext cx="489132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5c6b6e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Al langer bekende, grote wereldwijde community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5c6b6e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Ondersteunt veel (ook oudere) LoRa-hardware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5c6b6e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Gericht op eenvoud en brede compatibiliteit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5c6b6e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Berichten vaak leesbaar voor iedereen op een kanaal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6"/>
          <p:cNvSpPr/>
          <p:nvPr/>
        </p:nvSpPr>
        <p:spPr>
          <a:xfrm>
            <a:off x="6080760" y="1691640"/>
            <a:ext cx="5348520" cy="4159800"/>
          </a:xfrm>
          <a:prstGeom prst="roundRect">
            <a:avLst>
              <a:gd name="adj" fmla="val 2637"/>
            </a:avLst>
          </a:prstGeom>
          <a:solidFill>
            <a:srgbClr val="e9f5f4"/>
          </a:solidFill>
          <a:ln w="190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7"/>
          <p:cNvSpPr/>
          <p:nvPr/>
        </p:nvSpPr>
        <p:spPr>
          <a:xfrm>
            <a:off x="6309360" y="1901880"/>
            <a:ext cx="456480" cy="45648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" name="Image 1" descr="icon_mesh.png"/>
          <p:cNvPicPr/>
          <p:nvPr/>
        </p:nvPicPr>
        <p:blipFill>
          <a:blip r:embed="rId2"/>
          <a:stretch/>
        </p:blipFill>
        <p:spPr>
          <a:xfrm>
            <a:off x="6419160" y="2011680"/>
            <a:ext cx="2368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Text 8"/>
          <p:cNvSpPr/>
          <p:nvPr/>
        </p:nvSpPr>
        <p:spPr>
          <a:xfrm>
            <a:off x="6949440" y="1920240"/>
            <a:ext cx="4296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MeshCore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9"/>
          <p:cNvSpPr/>
          <p:nvPr/>
        </p:nvSpPr>
        <p:spPr>
          <a:xfrm>
            <a:off x="6400800" y="2514600"/>
            <a:ext cx="489132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1b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Nieuwer protocol, groeiende community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1b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Sterke focus op end-to-end versleuteling tussen contacten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1b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Flexibele node-rollen: companion, repeater, room server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b1b1b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Modernere routing (o.a. path hashes) voor grotere netwerken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0"/>
          <p:cNvSpPr/>
          <p:nvPr/>
        </p:nvSpPr>
        <p:spPr>
          <a:xfrm>
            <a:off x="548640" y="5989320"/>
            <a:ext cx="11064240" cy="360"/>
          </a:xfrm>
          <a:prstGeom prst="line">
            <a:avLst/>
          </a:prstGeom>
          <a:ln w="12700">
            <a:solidFill>
              <a:srgbClr val="dce9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1"/>
          <p:cNvSpPr/>
          <p:nvPr/>
        </p:nvSpPr>
        <p:spPr>
          <a:xfrm>
            <a:off x="548640" y="608076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Vanavond focussen we op MeshCore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457200" y="65106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MeshCore Avond 1,  Introductie &amp; Eerste Verbinding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3"/>
          <p:cNvSpPr/>
          <p:nvPr/>
        </p:nvSpPr>
        <p:spPr>
          <a:xfrm>
            <a:off x="11521440" y="651060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/>
          <p:cNvSpPr/>
          <p:nvPr/>
        </p:nvSpPr>
        <p:spPr>
          <a:xfrm>
            <a:off x="-1371600" y="4114800"/>
            <a:ext cx="4114080" cy="4114080"/>
          </a:xfrm>
          <a:prstGeom prst="ellipse">
            <a:avLst/>
          </a:prstGeom>
          <a:solidFill>
            <a:srgbClr val="00a896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" name="Image 0" descr="icon_cloudoff_white.png"/>
          <p:cNvPicPr/>
          <p:nvPr/>
        </p:nvPicPr>
        <p:blipFill>
          <a:blip r:embed="rId1"/>
          <a:stretch/>
        </p:blipFill>
        <p:spPr>
          <a:xfrm>
            <a:off x="594360" y="594360"/>
            <a:ext cx="547920" cy="54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Text 1"/>
          <p:cNvSpPr/>
          <p:nvPr/>
        </p:nvSpPr>
        <p:spPr>
          <a:xfrm>
            <a:off x="502920" y="1234440"/>
            <a:ext cx="10514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Werkt zonder internet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"/>
          <p:cNvSpPr/>
          <p:nvPr/>
        </p:nvSpPr>
        <p:spPr>
          <a:xfrm>
            <a:off x="594360" y="1965960"/>
            <a:ext cx="9600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trike="noStrike" u="none">
                <a:solidFill>
                  <a:srgbClr val="9fc3c6"/>
                </a:solidFill>
                <a:effectLst/>
                <a:uFillTx/>
                <a:latin typeface="Calibri"/>
                <a:ea typeface="Calibri"/>
              </a:rPr>
              <a:t>Daarom is MeshCore zo waardevol bij noodsituaties en stroomuitval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3"/>
          <p:cNvSpPr/>
          <p:nvPr/>
        </p:nvSpPr>
        <p:spPr>
          <a:xfrm>
            <a:off x="594360" y="2651760"/>
            <a:ext cx="502200" cy="502200"/>
          </a:xfrm>
          <a:prstGeom prst="ellipse">
            <a:avLst/>
          </a:prstGeom>
          <a:solidFill>
            <a:srgbClr val="1241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" name="Image 1" descr="icon_cloudoff_white.png"/>
          <p:cNvPicPr/>
          <p:nvPr/>
        </p:nvPicPr>
        <p:blipFill>
          <a:blip r:embed="rId2"/>
          <a:stretch/>
        </p:blipFill>
        <p:spPr>
          <a:xfrm>
            <a:off x="722520" y="2779920"/>
            <a:ext cx="246240" cy="246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Text 4"/>
          <p:cNvSpPr/>
          <p:nvPr/>
        </p:nvSpPr>
        <p:spPr>
          <a:xfrm>
            <a:off x="1325880" y="2624400"/>
            <a:ext cx="9691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Geen internet of mobiel netwerk nodig</a:t>
            </a:r>
            <a:endParaRPr b="0" lang="en-US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5"/>
          <p:cNvSpPr/>
          <p:nvPr/>
        </p:nvSpPr>
        <p:spPr>
          <a:xfrm>
            <a:off x="1325880" y="2926080"/>
            <a:ext cx="96919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9fc3c6"/>
                </a:solidFill>
                <a:effectLst/>
                <a:uFillTx/>
                <a:latin typeface="Calibri"/>
                <a:ea typeface="Calibri"/>
              </a:rPr>
              <a:t>Apparaten communiceren rechtstreeks via LoRa-radio,  ook als telecom-netwerken uitvallen.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6"/>
          <p:cNvSpPr/>
          <p:nvPr/>
        </p:nvSpPr>
        <p:spPr>
          <a:xfrm>
            <a:off x="594360" y="3547800"/>
            <a:ext cx="502200" cy="502200"/>
          </a:xfrm>
          <a:prstGeom prst="ellipse">
            <a:avLst/>
          </a:prstGeom>
          <a:solidFill>
            <a:srgbClr val="1241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" name="Image 2" descr="icon_zapoff_white.png"/>
          <p:cNvPicPr/>
          <p:nvPr/>
        </p:nvPicPr>
        <p:blipFill>
          <a:blip r:embed="rId3"/>
          <a:stretch/>
        </p:blipFill>
        <p:spPr>
          <a:xfrm>
            <a:off x="722520" y="3675960"/>
            <a:ext cx="246240" cy="246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Text 7"/>
          <p:cNvSpPr/>
          <p:nvPr/>
        </p:nvSpPr>
        <p:spPr>
          <a:xfrm>
            <a:off x="1325880" y="3520440"/>
            <a:ext cx="9691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Werkt op batterij of powerbank</a:t>
            </a:r>
            <a:endParaRPr b="0" lang="en-US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8"/>
          <p:cNvSpPr/>
          <p:nvPr/>
        </p:nvSpPr>
        <p:spPr>
          <a:xfrm>
            <a:off x="1325880" y="3822120"/>
            <a:ext cx="96919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9fc3c6"/>
                </a:solidFill>
                <a:effectLst/>
                <a:uFillTx/>
                <a:latin typeface="Calibri"/>
                <a:ea typeface="Calibri"/>
              </a:rPr>
              <a:t>Ook bij langdurige stroomuitval blijft communicatie mogelijk, onafhankelijk van het elektriciteitsnet.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9"/>
          <p:cNvSpPr/>
          <p:nvPr/>
        </p:nvSpPr>
        <p:spPr>
          <a:xfrm>
            <a:off x="594360" y="4443840"/>
            <a:ext cx="502200" cy="502200"/>
          </a:xfrm>
          <a:prstGeom prst="ellipse">
            <a:avLst/>
          </a:prstGeom>
          <a:solidFill>
            <a:srgbClr val="1241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" name="Image 3" descr="icon_alert_white.png"/>
          <p:cNvPicPr/>
          <p:nvPr/>
        </p:nvPicPr>
        <p:blipFill>
          <a:blip r:embed="rId4"/>
          <a:stretch/>
        </p:blipFill>
        <p:spPr>
          <a:xfrm>
            <a:off x="722520" y="4572000"/>
            <a:ext cx="246240" cy="246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Text 10"/>
          <p:cNvSpPr/>
          <p:nvPr/>
        </p:nvSpPr>
        <p:spPr>
          <a:xfrm>
            <a:off x="1325880" y="4416480"/>
            <a:ext cx="9691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Geschikt voor noodsituaties</a:t>
            </a:r>
            <a:endParaRPr b="0" lang="en-US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1"/>
          <p:cNvSpPr/>
          <p:nvPr/>
        </p:nvSpPr>
        <p:spPr>
          <a:xfrm>
            <a:off x="1325880" y="4718160"/>
            <a:ext cx="96919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9fc3c6"/>
                </a:solidFill>
                <a:effectLst/>
                <a:uFillTx/>
                <a:latin typeface="Calibri"/>
                <a:ea typeface="Calibri"/>
              </a:rPr>
              <a:t>Rampen, extreem weer of grote storingen: een mesh-netwerk blijft functioneren als andere infrastructuur wegvalt.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2"/>
          <p:cNvSpPr/>
          <p:nvPr/>
        </p:nvSpPr>
        <p:spPr>
          <a:xfrm>
            <a:off x="594360" y="5340240"/>
            <a:ext cx="502200" cy="502200"/>
          </a:xfrm>
          <a:prstGeom prst="ellipse">
            <a:avLst/>
          </a:prstGeom>
          <a:solidFill>
            <a:srgbClr val="1241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" name="Image 4" descr="icon_pin_white.png"/>
          <p:cNvPicPr/>
          <p:nvPr/>
        </p:nvPicPr>
        <p:blipFill>
          <a:blip r:embed="rId5"/>
          <a:stretch/>
        </p:blipFill>
        <p:spPr>
          <a:xfrm>
            <a:off x="722520" y="5468040"/>
            <a:ext cx="246240" cy="246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 13"/>
          <p:cNvSpPr/>
          <p:nvPr/>
        </p:nvSpPr>
        <p:spPr>
          <a:xfrm>
            <a:off x="1325880" y="5312520"/>
            <a:ext cx="9691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Ook handig in afgelegen gebieden</a:t>
            </a:r>
            <a:endParaRPr b="0" lang="en-US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4"/>
          <p:cNvSpPr/>
          <p:nvPr/>
        </p:nvSpPr>
        <p:spPr>
          <a:xfrm>
            <a:off x="1325880" y="5614560"/>
            <a:ext cx="96919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9fc3c6"/>
                </a:solidFill>
                <a:effectLst/>
                <a:uFillTx/>
                <a:latin typeface="Calibri"/>
                <a:ea typeface="Calibri"/>
              </a:rPr>
              <a:t>Wandelen, kamperen of evenementen zonder bereik: communiceer alsnog met mensen in de buurt.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5"/>
          <p:cNvSpPr/>
          <p:nvPr/>
        </p:nvSpPr>
        <p:spPr>
          <a:xfrm>
            <a:off x="457200" y="65106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cadcdc"/>
                </a:solidFill>
                <a:effectLst/>
                <a:uFillTx/>
                <a:latin typeface="Calibri"/>
                <a:ea typeface="Calibri"/>
              </a:rPr>
              <a:t>MeshCore Avond 1,  Introductie &amp; Eerste Verbinding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6"/>
          <p:cNvSpPr/>
          <p:nvPr/>
        </p:nvSpPr>
        <p:spPr>
          <a:xfrm>
            <a:off x="11521440" y="651060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cadcdc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/>
          <p:nvPr/>
        </p:nvSpPr>
        <p:spPr>
          <a:xfrm>
            <a:off x="548640" y="45720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b1b1b"/>
                </a:solidFill>
                <a:effectLst/>
                <a:uFillTx/>
                <a:latin typeface="Cambria"/>
                <a:ea typeface="Cambria"/>
              </a:rPr>
              <a:t>Wat is MeshCore?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548640" y="105156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Een mesh-netwerk in gewone taal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2"/>
          <p:cNvSpPr/>
          <p:nvPr/>
        </p:nvSpPr>
        <p:spPr>
          <a:xfrm>
            <a:off x="548640" y="1691640"/>
            <a:ext cx="566280" cy="56628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" name="Image 0" descr="icon_radio.png"/>
          <p:cNvPicPr/>
          <p:nvPr/>
        </p:nvPicPr>
        <p:blipFill>
          <a:blip r:embed="rId1"/>
          <a:stretch/>
        </p:blipFill>
        <p:spPr>
          <a:xfrm>
            <a:off x="676800" y="1819800"/>
            <a:ext cx="310320" cy="31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Text 3"/>
          <p:cNvSpPr/>
          <p:nvPr/>
        </p:nvSpPr>
        <p:spPr>
          <a:xfrm>
            <a:off x="1325880" y="1673280"/>
            <a:ext cx="5119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Geen internet nodig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4"/>
          <p:cNvSpPr/>
          <p:nvPr/>
        </p:nvSpPr>
        <p:spPr>
          <a:xfrm>
            <a:off x="1325880" y="1984320"/>
            <a:ext cx="52113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Apparaten praten rechtstreeks met elkaar via LoRa-radiosignalen.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5"/>
          <p:cNvSpPr/>
          <p:nvPr/>
        </p:nvSpPr>
        <p:spPr>
          <a:xfrm>
            <a:off x="548640" y="2743200"/>
            <a:ext cx="566280" cy="56628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" name="Image 1" descr="icon_mesh.png"/>
          <p:cNvPicPr/>
          <p:nvPr/>
        </p:nvPicPr>
        <p:blipFill>
          <a:blip r:embed="rId2"/>
          <a:stretch/>
        </p:blipFill>
        <p:spPr>
          <a:xfrm>
            <a:off x="676800" y="2871360"/>
            <a:ext cx="310320" cy="31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 6"/>
          <p:cNvSpPr/>
          <p:nvPr/>
        </p:nvSpPr>
        <p:spPr>
          <a:xfrm>
            <a:off x="1325880" y="2724840"/>
            <a:ext cx="5119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Berichten springen door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1325880" y="3035880"/>
            <a:ext cx="52113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Elk apparaat ("node") kan een bericht doorsturen naar de volgende, tot het aankomt.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8"/>
          <p:cNvSpPr/>
          <p:nvPr/>
        </p:nvSpPr>
        <p:spPr>
          <a:xfrm>
            <a:off x="548640" y="3794760"/>
            <a:ext cx="566280" cy="56628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" name="Image 2" descr="icon_users.png"/>
          <p:cNvPicPr/>
          <p:nvPr/>
        </p:nvPicPr>
        <p:blipFill>
          <a:blip r:embed="rId3"/>
          <a:stretch/>
        </p:blipFill>
        <p:spPr>
          <a:xfrm>
            <a:off x="676800" y="3922920"/>
            <a:ext cx="310320" cy="31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 9"/>
          <p:cNvSpPr/>
          <p:nvPr/>
        </p:nvSpPr>
        <p:spPr>
          <a:xfrm>
            <a:off x="1325880" y="3776400"/>
            <a:ext cx="5119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Community-gedreven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0"/>
          <p:cNvSpPr/>
          <p:nvPr/>
        </p:nvSpPr>
        <p:spPr>
          <a:xfrm>
            <a:off x="1325880" y="4087440"/>
            <a:ext cx="52113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Open source, gebouwd en uitgebreid door gebruikers wereldwijd,  ook in Nederland.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1"/>
          <p:cNvSpPr/>
          <p:nvPr/>
        </p:nvSpPr>
        <p:spPr>
          <a:xfrm>
            <a:off x="7040880" y="4114800"/>
            <a:ext cx="4571280" cy="1690920"/>
          </a:xfrm>
          <a:prstGeom prst="roundRect">
            <a:avLst>
              <a:gd name="adj" fmla="val 2667"/>
            </a:avLst>
          </a:prstGeom>
          <a:solidFill>
            <a:srgbClr val="f2f7f7"/>
          </a:solidFill>
          <a:ln w="12700">
            <a:solidFill>
              <a:srgbClr val="dce9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3"/>
          <p:cNvSpPr/>
          <p:nvPr/>
        </p:nvSpPr>
        <p:spPr>
          <a:xfrm>
            <a:off x="7315200" y="2423160"/>
            <a:ext cx="40226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6"/>
          <p:cNvSpPr/>
          <p:nvPr/>
        </p:nvSpPr>
        <p:spPr>
          <a:xfrm>
            <a:off x="7315200" y="4251960"/>
            <a:ext cx="4022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Waarom mensen dit leuk vinden: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7"/>
          <p:cNvSpPr/>
          <p:nvPr/>
        </p:nvSpPr>
        <p:spPr>
          <a:xfrm>
            <a:off x="7315200" y="4572000"/>
            <a:ext cx="40226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5c6b6e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Noodcommunicatie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5c6b6e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Hobby &amp; techniek uitproberen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5c6b6e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Privacy: geen abonnement, geen cloud, geen controle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8"/>
          <p:cNvSpPr/>
          <p:nvPr/>
        </p:nvSpPr>
        <p:spPr>
          <a:xfrm>
            <a:off x="457200" y="65106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MeshCore Avond 1,  Introductie &amp; Eerste Verbinding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9"/>
          <p:cNvSpPr/>
          <p:nvPr/>
        </p:nvSpPr>
        <p:spPr>
          <a:xfrm>
            <a:off x="11521440" y="651060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4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548640" y="45720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b1b1b"/>
                </a:solidFill>
                <a:effectLst/>
                <a:uFillTx/>
                <a:latin typeface="Cambria"/>
                <a:ea typeface="Cambria"/>
              </a:rPr>
              <a:t>De basis-concepten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548640" y="1051560"/>
            <a:ext cx="9143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Node, repeater, companion,  en hoe een bericht zijn weg vindt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2"/>
          <p:cNvSpPr/>
          <p:nvPr/>
        </p:nvSpPr>
        <p:spPr>
          <a:xfrm>
            <a:off x="548640" y="1691640"/>
            <a:ext cx="2559600" cy="1782360"/>
          </a:xfrm>
          <a:prstGeom prst="roundRect">
            <a:avLst>
              <a:gd name="adj" fmla="val 5128"/>
            </a:avLst>
          </a:prstGeom>
          <a:solidFill>
            <a:srgbClr val="f2f7f7"/>
          </a:solidFill>
          <a:ln w="12700">
            <a:solidFill>
              <a:srgbClr val="dce9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3"/>
          <p:cNvSpPr/>
          <p:nvPr/>
        </p:nvSpPr>
        <p:spPr>
          <a:xfrm>
            <a:off x="749880" y="1901880"/>
            <a:ext cx="438120" cy="4381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4"/>
          <p:cNvSpPr/>
          <p:nvPr/>
        </p:nvSpPr>
        <p:spPr>
          <a:xfrm>
            <a:off x="749880" y="2395800"/>
            <a:ext cx="2193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Node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5"/>
          <p:cNvSpPr/>
          <p:nvPr/>
        </p:nvSpPr>
        <p:spPr>
          <a:xfrm>
            <a:off x="749880" y="2724840"/>
            <a:ext cx="21938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Elk apparaat in het netwerk. Elke node kan berichten ontvangen én doorsturen.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6"/>
          <p:cNvSpPr/>
          <p:nvPr/>
        </p:nvSpPr>
        <p:spPr>
          <a:xfrm>
            <a:off x="3383280" y="1691640"/>
            <a:ext cx="2559600" cy="1782360"/>
          </a:xfrm>
          <a:prstGeom prst="roundRect">
            <a:avLst>
              <a:gd name="adj" fmla="val 5128"/>
            </a:avLst>
          </a:prstGeom>
          <a:solidFill>
            <a:srgbClr val="f2f7f7"/>
          </a:solidFill>
          <a:ln w="12700">
            <a:solidFill>
              <a:srgbClr val="dce9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7"/>
          <p:cNvSpPr/>
          <p:nvPr/>
        </p:nvSpPr>
        <p:spPr>
          <a:xfrm>
            <a:off x="3584520" y="1901880"/>
            <a:ext cx="438120" cy="43812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8"/>
          <p:cNvSpPr/>
          <p:nvPr/>
        </p:nvSpPr>
        <p:spPr>
          <a:xfrm>
            <a:off x="3584520" y="2395800"/>
            <a:ext cx="2193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Companion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9"/>
          <p:cNvSpPr/>
          <p:nvPr/>
        </p:nvSpPr>
        <p:spPr>
          <a:xfrm>
            <a:off x="3584520" y="2724840"/>
            <a:ext cx="21938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Jouw eigen node, gekoppeld aan je telefoon via Bluetooth of je laptop. Hiermee chat je.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0"/>
          <p:cNvSpPr/>
          <p:nvPr/>
        </p:nvSpPr>
        <p:spPr>
          <a:xfrm>
            <a:off x="6217920" y="1691640"/>
            <a:ext cx="2559600" cy="1782360"/>
          </a:xfrm>
          <a:prstGeom prst="roundRect">
            <a:avLst>
              <a:gd name="adj" fmla="val 5128"/>
            </a:avLst>
          </a:prstGeom>
          <a:solidFill>
            <a:srgbClr val="f2f7f7"/>
          </a:solidFill>
          <a:ln w="12700">
            <a:solidFill>
              <a:srgbClr val="dce9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1"/>
          <p:cNvSpPr/>
          <p:nvPr/>
        </p:nvSpPr>
        <p:spPr>
          <a:xfrm>
            <a:off x="6419160" y="1901880"/>
            <a:ext cx="438120" cy="43812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2"/>
          <p:cNvSpPr/>
          <p:nvPr/>
        </p:nvSpPr>
        <p:spPr>
          <a:xfrm>
            <a:off x="6419160" y="2395800"/>
            <a:ext cx="2193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Repeater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3"/>
          <p:cNvSpPr/>
          <p:nvPr/>
        </p:nvSpPr>
        <p:spPr>
          <a:xfrm>
            <a:off x="6419160" y="2724840"/>
            <a:ext cx="21938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Een node die vooral berichten doorstuurt, om het bereik te vergroten.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4"/>
          <p:cNvSpPr/>
          <p:nvPr/>
        </p:nvSpPr>
        <p:spPr>
          <a:xfrm>
            <a:off x="9052560" y="1691640"/>
            <a:ext cx="2559600" cy="1782360"/>
          </a:xfrm>
          <a:prstGeom prst="roundRect">
            <a:avLst>
              <a:gd name="adj" fmla="val 5128"/>
            </a:avLst>
          </a:prstGeom>
          <a:solidFill>
            <a:srgbClr val="f2f7f7"/>
          </a:solidFill>
          <a:ln w="12700">
            <a:solidFill>
              <a:srgbClr val="dce9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5"/>
          <p:cNvSpPr/>
          <p:nvPr/>
        </p:nvSpPr>
        <p:spPr>
          <a:xfrm>
            <a:off x="9253800" y="1901880"/>
            <a:ext cx="438120" cy="438120"/>
          </a:xfrm>
          <a:prstGeom prst="roundRect">
            <a:avLst>
              <a:gd name="adj" fmla="val 50000"/>
            </a:avLst>
          </a:prstGeom>
          <a:solidFill>
            <a:srgbClr val="0b5d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1" name="Image 0" descr="icon_server.png"/>
          <p:cNvPicPr/>
          <p:nvPr/>
        </p:nvPicPr>
        <p:blipFill>
          <a:blip r:embed="rId1"/>
          <a:stretch/>
        </p:blipFill>
        <p:spPr>
          <a:xfrm>
            <a:off x="9354240" y="2002680"/>
            <a:ext cx="236880" cy="23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 16"/>
          <p:cNvSpPr/>
          <p:nvPr/>
        </p:nvSpPr>
        <p:spPr>
          <a:xfrm>
            <a:off x="9253800" y="2395800"/>
            <a:ext cx="2193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Room Server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7"/>
          <p:cNvSpPr/>
          <p:nvPr/>
        </p:nvSpPr>
        <p:spPr>
          <a:xfrm>
            <a:off x="9253800" y="2724840"/>
            <a:ext cx="21938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Een soort chatroom: slaat berichten op, zodat je ze later kunt ophalen.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8"/>
          <p:cNvSpPr/>
          <p:nvPr/>
        </p:nvSpPr>
        <p:spPr>
          <a:xfrm>
            <a:off x="548640" y="379476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Flood-routing: de estafette-metafoor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9"/>
          <p:cNvSpPr/>
          <p:nvPr/>
        </p:nvSpPr>
        <p:spPr>
          <a:xfrm>
            <a:off x="914400" y="4846320"/>
            <a:ext cx="593640" cy="593640"/>
          </a:xfrm>
          <a:prstGeom prst="ellipse">
            <a:avLst/>
          </a:prstGeom>
          <a:solidFill>
            <a:srgbClr val="028090"/>
          </a:solidFill>
          <a:ln w="190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0"/>
          <p:cNvSpPr/>
          <p:nvPr/>
        </p:nvSpPr>
        <p:spPr>
          <a:xfrm>
            <a:off x="1508760" y="5143320"/>
            <a:ext cx="1874520" cy="360"/>
          </a:xfrm>
          <a:prstGeom prst="line">
            <a:avLst/>
          </a:prstGeom>
          <a:ln w="25400">
            <a:solidFill>
              <a:srgbClr val="00a89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1"/>
          <p:cNvSpPr/>
          <p:nvPr/>
        </p:nvSpPr>
        <p:spPr>
          <a:xfrm>
            <a:off x="3383280" y="4846320"/>
            <a:ext cx="593640" cy="593640"/>
          </a:xfrm>
          <a:prstGeom prst="ellipse">
            <a:avLst/>
          </a:prstGeom>
          <a:solidFill>
            <a:srgbClr val="d8ecea"/>
          </a:solidFill>
          <a:ln w="190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22"/>
          <p:cNvSpPr/>
          <p:nvPr/>
        </p:nvSpPr>
        <p:spPr>
          <a:xfrm>
            <a:off x="3977640" y="5143320"/>
            <a:ext cx="1874520" cy="360"/>
          </a:xfrm>
          <a:prstGeom prst="line">
            <a:avLst/>
          </a:prstGeom>
          <a:ln w="25400">
            <a:solidFill>
              <a:srgbClr val="00a89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3"/>
          <p:cNvSpPr/>
          <p:nvPr/>
        </p:nvSpPr>
        <p:spPr>
          <a:xfrm>
            <a:off x="5852160" y="4846320"/>
            <a:ext cx="593640" cy="593640"/>
          </a:xfrm>
          <a:prstGeom prst="ellipse">
            <a:avLst/>
          </a:prstGeom>
          <a:solidFill>
            <a:srgbClr val="d8ecea"/>
          </a:solidFill>
          <a:ln w="190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4"/>
          <p:cNvSpPr/>
          <p:nvPr/>
        </p:nvSpPr>
        <p:spPr>
          <a:xfrm>
            <a:off x="6446520" y="5143320"/>
            <a:ext cx="1874520" cy="360"/>
          </a:xfrm>
          <a:prstGeom prst="line">
            <a:avLst/>
          </a:prstGeom>
          <a:ln w="25400">
            <a:solidFill>
              <a:srgbClr val="00a89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5"/>
          <p:cNvSpPr/>
          <p:nvPr/>
        </p:nvSpPr>
        <p:spPr>
          <a:xfrm>
            <a:off x="8321040" y="4846320"/>
            <a:ext cx="593640" cy="593640"/>
          </a:xfrm>
          <a:prstGeom prst="ellipse">
            <a:avLst/>
          </a:prstGeom>
          <a:solidFill>
            <a:srgbClr val="d8ecea"/>
          </a:solidFill>
          <a:ln w="190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6"/>
          <p:cNvSpPr/>
          <p:nvPr/>
        </p:nvSpPr>
        <p:spPr>
          <a:xfrm>
            <a:off x="8915400" y="5143320"/>
            <a:ext cx="1874520" cy="360"/>
          </a:xfrm>
          <a:prstGeom prst="line">
            <a:avLst/>
          </a:prstGeom>
          <a:ln w="25400">
            <a:solidFill>
              <a:srgbClr val="00a89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7"/>
          <p:cNvSpPr/>
          <p:nvPr/>
        </p:nvSpPr>
        <p:spPr>
          <a:xfrm>
            <a:off x="10789920" y="4846320"/>
            <a:ext cx="593640" cy="593640"/>
          </a:xfrm>
          <a:prstGeom prst="ellipse">
            <a:avLst/>
          </a:prstGeom>
          <a:solidFill>
            <a:srgbClr val="028090"/>
          </a:solidFill>
          <a:ln w="190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8"/>
          <p:cNvSpPr/>
          <p:nvPr/>
        </p:nvSpPr>
        <p:spPr>
          <a:xfrm>
            <a:off x="640080" y="5486400"/>
            <a:ext cx="118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Zender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9"/>
          <p:cNvSpPr/>
          <p:nvPr/>
        </p:nvSpPr>
        <p:spPr>
          <a:xfrm>
            <a:off x="10424160" y="548640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Ontvanger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0"/>
          <p:cNvSpPr/>
          <p:nvPr/>
        </p:nvSpPr>
        <p:spPr>
          <a:xfrm>
            <a:off x="548640" y="5806440"/>
            <a:ext cx="10057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Elke node stuurt het bericht door aan de volgende, tot het bij de bestemming aankomt.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1"/>
          <p:cNvSpPr/>
          <p:nvPr/>
        </p:nvSpPr>
        <p:spPr>
          <a:xfrm>
            <a:off x="457200" y="65106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MeshCore Avond 1,  Introductie &amp; Eerste Verbinding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2"/>
          <p:cNvSpPr/>
          <p:nvPr/>
        </p:nvSpPr>
        <p:spPr>
          <a:xfrm>
            <a:off x="11521440" y="651060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5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 0"/>
          <p:cNvSpPr/>
          <p:nvPr/>
        </p:nvSpPr>
        <p:spPr>
          <a:xfrm>
            <a:off x="548640" y="457200"/>
            <a:ext cx="9143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b1b1b"/>
                </a:solidFill>
                <a:effectLst/>
                <a:uFillTx/>
                <a:latin typeface="Cambria"/>
                <a:ea typeface="Cambria"/>
              </a:rPr>
              <a:t>Mijn ervaringen tot nu toe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"/>
          <p:cNvSpPr/>
          <p:nvPr/>
        </p:nvSpPr>
        <p:spPr>
          <a:xfrm>
            <a:off x="548640" y="105156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"/>
          <p:cNvSpPr/>
          <p:nvPr/>
        </p:nvSpPr>
        <p:spPr>
          <a:xfrm>
            <a:off x="548640" y="1737360"/>
            <a:ext cx="10880640" cy="959400"/>
          </a:xfrm>
          <a:prstGeom prst="roundRect">
            <a:avLst>
              <a:gd name="adj" fmla="val 7619"/>
            </a:avLst>
          </a:prstGeom>
          <a:solidFill>
            <a:srgbClr val="f2f7f7"/>
          </a:solidFill>
          <a:ln w="12700">
            <a:solidFill>
              <a:srgbClr val="dce9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3"/>
          <p:cNvSpPr/>
          <p:nvPr/>
        </p:nvSpPr>
        <p:spPr>
          <a:xfrm>
            <a:off x="777240" y="1993320"/>
            <a:ext cx="456480" cy="45648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4"/>
          <p:cNvSpPr/>
          <p:nvPr/>
        </p:nvSpPr>
        <p:spPr>
          <a:xfrm>
            <a:off x="1417320" y="1810440"/>
            <a:ext cx="40226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Flashen &amp; instellen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5"/>
          <p:cNvSpPr/>
          <p:nvPr/>
        </p:nvSpPr>
        <p:spPr>
          <a:xfrm>
            <a:off x="5577840" y="1810440"/>
            <a:ext cx="56685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Preset, regio (868 MHz NL) en path-hash-grootte kloppend krijgen,  kleine dingen die veel verschil maken.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6"/>
          <p:cNvSpPr/>
          <p:nvPr/>
        </p:nvSpPr>
        <p:spPr>
          <a:xfrm>
            <a:off x="548640" y="2834640"/>
            <a:ext cx="10880640" cy="959400"/>
          </a:xfrm>
          <a:prstGeom prst="roundRect">
            <a:avLst>
              <a:gd name="adj" fmla="val 7619"/>
            </a:avLst>
          </a:prstGeom>
          <a:solidFill>
            <a:srgbClr val="f2f7f7"/>
          </a:solidFill>
          <a:ln w="12700">
            <a:solidFill>
              <a:srgbClr val="dce9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7"/>
          <p:cNvSpPr/>
          <p:nvPr/>
        </p:nvSpPr>
        <p:spPr>
          <a:xfrm>
            <a:off x="777240" y="3090600"/>
            <a:ext cx="456480" cy="45648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8"/>
          <p:cNvSpPr/>
          <p:nvPr/>
        </p:nvSpPr>
        <p:spPr>
          <a:xfrm>
            <a:off x="1417320" y="2907720"/>
            <a:ext cx="40226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"Ik zie alleen mezelf op de analyzer"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9"/>
          <p:cNvSpPr/>
          <p:nvPr/>
        </p:nvSpPr>
        <p:spPr>
          <a:xfrm>
            <a:off x="5577840" y="2907720"/>
            <a:ext cx="56685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Bleek te maken te hebben met region-instellingen die niet aansloten bij de rest van het lokale netwerk en de repeaters.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0"/>
          <p:cNvSpPr/>
          <p:nvPr/>
        </p:nvSpPr>
        <p:spPr>
          <a:xfrm>
            <a:off x="548640" y="3931920"/>
            <a:ext cx="10880640" cy="959400"/>
          </a:xfrm>
          <a:prstGeom prst="roundRect">
            <a:avLst>
              <a:gd name="adj" fmla="val 7619"/>
            </a:avLst>
          </a:prstGeom>
          <a:solidFill>
            <a:srgbClr val="f2f7f7"/>
          </a:solidFill>
          <a:ln w="12700">
            <a:solidFill>
              <a:srgbClr val="dce9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1"/>
          <p:cNvSpPr/>
          <p:nvPr/>
        </p:nvSpPr>
        <p:spPr>
          <a:xfrm>
            <a:off x="777240" y="4187880"/>
            <a:ext cx="456480" cy="45648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2"/>
          <p:cNvSpPr/>
          <p:nvPr/>
        </p:nvSpPr>
        <p:spPr>
          <a:xfrm>
            <a:off x="1417320" y="4005000"/>
            <a:ext cx="40226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Overleg met de community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3"/>
          <p:cNvSpPr/>
          <p:nvPr/>
        </p:nvSpPr>
        <p:spPr>
          <a:xfrm>
            <a:off x="5577840" y="4005000"/>
            <a:ext cx="56685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Regio-afspraken en path-hash-grootte werken pas goed als de meeste repeaters in de buurt hetzelfde doen.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4"/>
          <p:cNvSpPr/>
          <p:nvPr/>
        </p:nvSpPr>
        <p:spPr>
          <a:xfrm>
            <a:off x="548640" y="5029200"/>
            <a:ext cx="10880640" cy="959400"/>
          </a:xfrm>
          <a:prstGeom prst="roundRect">
            <a:avLst>
              <a:gd name="adj" fmla="val 7619"/>
            </a:avLst>
          </a:prstGeom>
          <a:solidFill>
            <a:srgbClr val="f2f7f7"/>
          </a:solidFill>
          <a:ln w="12700">
            <a:solidFill>
              <a:srgbClr val="dce9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5"/>
          <p:cNvSpPr/>
          <p:nvPr/>
        </p:nvSpPr>
        <p:spPr>
          <a:xfrm>
            <a:off x="777240" y="5285160"/>
            <a:ext cx="456480" cy="45648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6"/>
          <p:cNvSpPr/>
          <p:nvPr/>
        </p:nvSpPr>
        <p:spPr>
          <a:xfrm>
            <a:off x="1417320" y="5102280"/>
            <a:ext cx="40226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Hardware-avonturen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7"/>
          <p:cNvSpPr/>
          <p:nvPr/>
        </p:nvSpPr>
        <p:spPr>
          <a:xfrm>
            <a:off x="5577840" y="5102280"/>
            <a:ext cx="56685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Een oude Arduino Uno + Dragino LoRaShield bleek niet krachtig genoeg voor MeshCore,  nog uitzoeken om te ontdekken waarom.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8"/>
          <p:cNvSpPr/>
          <p:nvPr/>
        </p:nvSpPr>
        <p:spPr>
          <a:xfrm>
            <a:off x="457200" y="65106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MeshCore Avond 1,  Introductie &amp; Eerste Verbinding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9"/>
          <p:cNvSpPr/>
          <p:nvPr/>
        </p:nvSpPr>
        <p:spPr>
          <a:xfrm>
            <a:off x="11521440" y="651060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8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0"/>
          <p:cNvSpPr/>
          <p:nvPr/>
        </p:nvSpPr>
        <p:spPr>
          <a:xfrm>
            <a:off x="548640" y="45720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b1b1b"/>
                </a:solidFill>
                <a:effectLst/>
                <a:uFillTx/>
                <a:latin typeface="Cambria"/>
                <a:ea typeface="Cambria"/>
              </a:rPr>
              <a:t>Wat heb je nodig?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548640" y="105156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Hardware en software om mee te doen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2"/>
          <p:cNvSpPr/>
          <p:nvPr/>
        </p:nvSpPr>
        <p:spPr>
          <a:xfrm>
            <a:off x="548640" y="1691640"/>
            <a:ext cx="5302800" cy="4205520"/>
          </a:xfrm>
          <a:prstGeom prst="roundRect">
            <a:avLst>
              <a:gd name="adj" fmla="val 2609"/>
            </a:avLst>
          </a:prstGeom>
          <a:solidFill>
            <a:srgbClr val="f2f7f7"/>
          </a:solidFill>
          <a:ln w="12700">
            <a:solidFill>
              <a:srgbClr val="dce9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Image 0" descr="icon_cpu.png"/>
          <p:cNvPicPr/>
          <p:nvPr/>
        </p:nvPicPr>
        <p:blipFill>
          <a:blip r:embed="rId1"/>
          <a:stretch/>
        </p:blipFill>
        <p:spPr>
          <a:xfrm>
            <a:off x="822960" y="192024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 3"/>
          <p:cNvSpPr/>
          <p:nvPr/>
        </p:nvSpPr>
        <p:spPr>
          <a:xfrm>
            <a:off x="1417320" y="1938600"/>
            <a:ext cx="2742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Hardware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4"/>
          <p:cNvSpPr/>
          <p:nvPr/>
        </p:nvSpPr>
        <p:spPr>
          <a:xfrm>
            <a:off x="868680" y="2514600"/>
            <a:ext cx="466272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5c6b6e"/>
              </a:buClr>
              <a:buFont typeface="Symbol" charset="2"/>
              <a:buChar char=""/>
            </a:pPr>
            <a:r>
              <a:rPr b="1" lang="en-US" sz="135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Een LoRa-board, bv. Heltec WiFi LoRa 32 V3 of V4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5c6b6e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868 MHz-versie,  dat is de juiste band voor Nederland/EU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5c6b6e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USB-C </a:t>
            </a:r>
            <a:r>
              <a:rPr b="1" lang="en-US" sz="135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data-kabel</a:t>
            </a:r>
            <a:r>
              <a:rPr b="0" lang="en-US" sz="135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 om te flashen en aan te sluiten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5"/>
          <p:cNvSpPr/>
          <p:nvPr/>
        </p:nvSpPr>
        <p:spPr>
          <a:xfrm>
            <a:off x="868680" y="4114800"/>
            <a:ext cx="4663440" cy="360"/>
          </a:xfrm>
          <a:prstGeom prst="line">
            <a:avLst/>
          </a:prstGeom>
          <a:ln w="12700">
            <a:solidFill>
              <a:srgbClr val="dce9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6"/>
          <p:cNvSpPr/>
          <p:nvPr/>
        </p:nvSpPr>
        <p:spPr>
          <a:xfrm>
            <a:off x="868680" y="4297680"/>
            <a:ext cx="46627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7"/>
          <p:cNvSpPr/>
          <p:nvPr/>
        </p:nvSpPr>
        <p:spPr>
          <a:xfrm>
            <a:off x="6126480" y="1691640"/>
            <a:ext cx="5485680" cy="4205520"/>
          </a:xfrm>
          <a:prstGeom prst="roundRect">
            <a:avLst>
              <a:gd name="adj" fmla="val 2609"/>
            </a:avLst>
          </a:prstGeom>
          <a:solidFill>
            <a:srgbClr val="f2f7f7"/>
          </a:solidFill>
          <a:ln w="12700">
            <a:solidFill>
              <a:srgbClr val="dce9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Image 1" descr="icon_phone.png"/>
          <p:cNvPicPr/>
          <p:nvPr/>
        </p:nvPicPr>
        <p:blipFill>
          <a:blip r:embed="rId2"/>
          <a:stretch/>
        </p:blipFill>
        <p:spPr>
          <a:xfrm>
            <a:off x="6400800" y="192024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Text 8"/>
          <p:cNvSpPr/>
          <p:nvPr/>
        </p:nvSpPr>
        <p:spPr>
          <a:xfrm>
            <a:off x="6995160" y="1938600"/>
            <a:ext cx="2742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b1b1b"/>
                </a:solidFill>
                <a:effectLst/>
                <a:uFillTx/>
                <a:latin typeface="Calibri"/>
                <a:ea typeface="Calibri"/>
              </a:rPr>
              <a:t>Software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9"/>
          <p:cNvSpPr/>
          <p:nvPr/>
        </p:nvSpPr>
        <p:spPr>
          <a:xfrm>
            <a:off x="6446520" y="2514600"/>
            <a:ext cx="493704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5c6b6e"/>
              </a:buClr>
              <a:buFont typeface="Symbol" charset="2"/>
              <a:buChar char=""/>
            </a:pPr>
            <a:r>
              <a:rPr b="1" lang="en-US" sz="135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MeshCore-app op je telefoon (iOS/Android)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5c6b6e"/>
              </a:buClr>
              <a:buFont typeface="Symbol" charset="2"/>
              <a:buChar char=""/>
            </a:pPr>
            <a:r>
              <a:rPr b="1" lang="en-US" sz="135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Chrome, Chromium of Edge browser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5c6b6e"/>
              </a:buClr>
              <a:buFont typeface="Symbol" charset="2"/>
              <a:buChar char=""/>
            </a:pPr>
            <a:r>
              <a:rPr b="1" lang="en-US" sz="135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Windows: de Cp210X driver (Zie onze Github)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5c6b6e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Of: de webflasher/webclient in je browser,  installeren niet nodig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5c6b6e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We flashen samen de firmware op een board 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0"/>
          <p:cNvSpPr/>
          <p:nvPr/>
        </p:nvSpPr>
        <p:spPr>
          <a:xfrm>
            <a:off x="6446520" y="4114800"/>
            <a:ext cx="4892040" cy="360"/>
          </a:xfrm>
          <a:prstGeom prst="line">
            <a:avLst/>
          </a:prstGeom>
          <a:ln w="12700">
            <a:solidFill>
              <a:srgbClr val="dce9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1"/>
          <p:cNvSpPr/>
          <p:nvPr/>
        </p:nvSpPr>
        <p:spPr>
          <a:xfrm>
            <a:off x="6446520" y="4297680"/>
            <a:ext cx="48913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Heb je zelf al een board? Doe mee!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2"/>
          <p:cNvSpPr/>
          <p:nvPr/>
        </p:nvSpPr>
        <p:spPr>
          <a:xfrm>
            <a:off x="457200" y="65106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MeshCore Avond 1,  Introductie &amp; Eerste Verbinding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3"/>
          <p:cNvSpPr/>
          <p:nvPr/>
        </p:nvSpPr>
        <p:spPr>
          <a:xfrm>
            <a:off x="11521440" y="651060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c6b6e"/>
                </a:solidFill>
                <a:effectLst/>
                <a:uFillTx/>
                <a:latin typeface="Calibri"/>
                <a:ea typeface="Calibri"/>
              </a:rPr>
              <a:t>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3"/>
          <a:stretch/>
        </p:blipFill>
        <p:spPr>
          <a:xfrm>
            <a:off x="6400800" y="4997160"/>
            <a:ext cx="5029200" cy="71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" name="" descr=""/>
          <p:cNvPicPr/>
          <p:nvPr/>
        </p:nvPicPr>
        <p:blipFill>
          <a:blip r:embed="rId4"/>
          <a:stretch/>
        </p:blipFill>
        <p:spPr>
          <a:xfrm>
            <a:off x="868680" y="3886200"/>
            <a:ext cx="3906720" cy="2514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0"/>
          <p:cNvSpPr/>
          <p:nvPr/>
        </p:nvSpPr>
        <p:spPr>
          <a:xfrm>
            <a:off x="9875520" y="3840480"/>
            <a:ext cx="3656880" cy="3656880"/>
          </a:xfrm>
          <a:prstGeom prst="ellipse">
            <a:avLst/>
          </a:prstGeom>
          <a:solidFill>
            <a:srgbClr val="00a896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8" name="Image 0" descr="icon_msg_white.png"/>
          <p:cNvPicPr/>
          <p:nvPr/>
        </p:nvPicPr>
        <p:blipFill>
          <a:blip r:embed="rId1"/>
          <a:stretch/>
        </p:blipFill>
        <p:spPr>
          <a:xfrm>
            <a:off x="594360" y="594360"/>
            <a:ext cx="547920" cy="54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Text 1"/>
          <p:cNvSpPr/>
          <p:nvPr/>
        </p:nvSpPr>
        <p:spPr>
          <a:xfrm>
            <a:off x="502920" y="1234440"/>
            <a:ext cx="10514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Live demo: iedereen kan mee doen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3"/>
          <p:cNvSpPr/>
          <p:nvPr/>
        </p:nvSpPr>
        <p:spPr>
          <a:xfrm>
            <a:off x="594360" y="2651760"/>
            <a:ext cx="456480" cy="45648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4"/>
          <p:cNvSpPr/>
          <p:nvPr/>
        </p:nvSpPr>
        <p:spPr>
          <a:xfrm>
            <a:off x="594360" y="263340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b2b30"/>
                </a:solidFill>
                <a:effectLst/>
                <a:uFillTx/>
                <a:latin typeface="Calibri"/>
                <a:ea typeface="Calibri"/>
              </a:rPr>
              <a:t>1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5"/>
          <p:cNvSpPr/>
          <p:nvPr/>
        </p:nvSpPr>
        <p:spPr>
          <a:xfrm>
            <a:off x="1234440" y="2670120"/>
            <a:ext cx="9600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af4f4"/>
                </a:solidFill>
                <a:effectLst/>
                <a:uFillTx/>
                <a:latin typeface="Calibri"/>
                <a:ea typeface="Calibri"/>
              </a:rPr>
              <a:t>Open de MeshCore-webclient of -app op je telefoon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6"/>
          <p:cNvSpPr/>
          <p:nvPr/>
        </p:nvSpPr>
        <p:spPr>
          <a:xfrm>
            <a:off x="594360" y="3310200"/>
            <a:ext cx="456480" cy="45648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7"/>
          <p:cNvSpPr/>
          <p:nvPr/>
        </p:nvSpPr>
        <p:spPr>
          <a:xfrm>
            <a:off x="594360" y="329184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b2b3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8"/>
          <p:cNvSpPr/>
          <p:nvPr/>
        </p:nvSpPr>
        <p:spPr>
          <a:xfrm>
            <a:off x="1234440" y="3328560"/>
            <a:ext cx="9600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af4f4"/>
                </a:solidFill>
                <a:effectLst/>
                <a:uFillTx/>
                <a:latin typeface="Calibri"/>
                <a:ea typeface="Calibri"/>
              </a:rPr>
              <a:t>Verbind met je companion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9"/>
          <p:cNvSpPr/>
          <p:nvPr/>
        </p:nvSpPr>
        <p:spPr>
          <a:xfrm>
            <a:off x="594360" y="3968640"/>
            <a:ext cx="456480" cy="45648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0"/>
          <p:cNvSpPr/>
          <p:nvPr/>
        </p:nvSpPr>
        <p:spPr>
          <a:xfrm>
            <a:off x="594360" y="395028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b2b30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1"/>
          <p:cNvSpPr/>
          <p:nvPr/>
        </p:nvSpPr>
        <p:spPr>
          <a:xfrm>
            <a:off x="1234440" y="3986640"/>
            <a:ext cx="9600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af4f4"/>
                </a:solidFill>
                <a:effectLst/>
                <a:uFillTx/>
                <a:latin typeface="Calibri"/>
                <a:ea typeface="Calibri"/>
              </a:rPr>
              <a:t>Stuur samen een bericht in het #Public kanaal of naar elkaar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2"/>
          <p:cNvSpPr/>
          <p:nvPr/>
        </p:nvSpPr>
        <p:spPr>
          <a:xfrm>
            <a:off x="594360" y="4626720"/>
            <a:ext cx="456480" cy="45648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3"/>
          <p:cNvSpPr/>
          <p:nvPr/>
        </p:nvSpPr>
        <p:spPr>
          <a:xfrm>
            <a:off x="594360" y="460872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b2b30"/>
                </a:solidFill>
                <a:effectLst/>
                <a:uFillTx/>
                <a:latin typeface="Calibri"/>
                <a:ea typeface="Calibri"/>
              </a:rPr>
              <a:t>4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4"/>
          <p:cNvSpPr/>
          <p:nvPr/>
        </p:nvSpPr>
        <p:spPr>
          <a:xfrm>
            <a:off x="1234440" y="4645080"/>
            <a:ext cx="9600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af4f4"/>
                </a:solidFill>
                <a:effectLst/>
                <a:uFillTx/>
                <a:latin typeface="Calibri"/>
                <a:ea typeface="Calibri"/>
              </a:rPr>
              <a:t>Bekijk hoe "repeats" oplopen naarmate je bericht doorspringt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5"/>
          <p:cNvSpPr/>
          <p:nvPr/>
        </p:nvSpPr>
        <p:spPr>
          <a:xfrm>
            <a:off x="457200" y="65106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cadcdc"/>
                </a:solidFill>
                <a:effectLst/>
                <a:uFillTx/>
                <a:latin typeface="Calibri"/>
                <a:ea typeface="Calibri"/>
              </a:rPr>
              <a:t>MeshCore Avond 1,  Introductie &amp; Eerste Verbinding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6"/>
          <p:cNvSpPr/>
          <p:nvPr/>
        </p:nvSpPr>
        <p:spPr>
          <a:xfrm>
            <a:off x="11521440" y="651060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cadcdc"/>
                </a:solidFill>
                <a:effectLst/>
                <a:uFillTx/>
                <a:latin typeface="Calibri"/>
                <a:ea typeface="Calibri"/>
              </a:rPr>
              <a:t>7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0"/>
          <p:cNvSpPr/>
          <p:nvPr/>
        </p:nvSpPr>
        <p:spPr>
          <a:xfrm>
            <a:off x="-1371600" y="-1371600"/>
            <a:ext cx="4114080" cy="4114080"/>
          </a:xfrm>
          <a:prstGeom prst="ellipse">
            <a:avLst/>
          </a:prstGeom>
          <a:solidFill>
            <a:srgbClr val="00a896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"/>
          <p:cNvSpPr/>
          <p:nvPr/>
        </p:nvSpPr>
        <p:spPr>
          <a:xfrm>
            <a:off x="548640" y="640080"/>
            <a:ext cx="91432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Afsluiting &amp; vooruitblik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2"/>
          <p:cNvSpPr/>
          <p:nvPr/>
        </p:nvSpPr>
        <p:spPr>
          <a:xfrm>
            <a:off x="548640" y="1737360"/>
            <a:ext cx="5211360" cy="3931200"/>
          </a:xfrm>
          <a:prstGeom prst="roundRect">
            <a:avLst>
              <a:gd name="adj" fmla="val 2791"/>
            </a:avLst>
          </a:prstGeom>
          <a:solidFill>
            <a:srgbClr val="1241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7" name="Image 0" descr="icon_book_white.png"/>
          <p:cNvPicPr/>
          <p:nvPr/>
        </p:nvPicPr>
        <p:blipFill>
          <a:blip r:embed="rId1"/>
          <a:stretch/>
        </p:blipFill>
        <p:spPr>
          <a:xfrm>
            <a:off x="822960" y="196596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Text 3"/>
          <p:cNvSpPr/>
          <p:nvPr/>
        </p:nvSpPr>
        <p:spPr>
          <a:xfrm>
            <a:off x="1417320" y="1984320"/>
            <a:ext cx="3656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Verder lezen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4"/>
          <p:cNvSpPr/>
          <p:nvPr/>
        </p:nvSpPr>
        <p:spPr>
          <a:xfrm>
            <a:off x="868680" y="2514600"/>
            <a:ext cx="466272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cadcdc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adcdc"/>
                </a:solidFill>
                <a:effectLst/>
                <a:uFillTx/>
                <a:latin typeface="Calibri"/>
                <a:ea typeface="Calibri"/>
              </a:rPr>
              <a:t>docs.meshcore.io,  documentatie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cadcdc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adcdc"/>
                </a:solidFill>
                <a:effectLst/>
                <a:uFillTx/>
                <a:latin typeface="Calibri"/>
                <a:ea typeface="Calibri"/>
              </a:rPr>
              <a:t>GitHub meshcore-dev/MeshCore,  broncode &amp; wiki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cadcdc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adcdc"/>
                </a:solidFill>
                <a:effectLst/>
                <a:uFillTx/>
                <a:latin typeface="Calibri"/>
                <a:ea typeface="Calibri"/>
              </a:rPr>
              <a:t>MeshCore Discord,  vragen &amp; community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cadcdc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adcdc"/>
                </a:solidFill>
                <a:effectLst/>
                <a:uFillTx/>
                <a:latin typeface="Calibri"/>
                <a:ea typeface="Calibri"/>
              </a:rPr>
              <a:t>map.meshcore.io,  live netwerkkaart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5"/>
          <p:cNvSpPr/>
          <p:nvPr/>
        </p:nvSpPr>
        <p:spPr>
          <a:xfrm>
            <a:off x="6080760" y="1737360"/>
            <a:ext cx="5531400" cy="3931200"/>
          </a:xfrm>
          <a:prstGeom prst="roundRect">
            <a:avLst>
              <a:gd name="adj" fmla="val 2791"/>
            </a:avLst>
          </a:prstGeom>
          <a:solidFill>
            <a:srgbClr val="1241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1" name="Image 1" descr="icon_zap_white.png"/>
          <p:cNvPicPr/>
          <p:nvPr/>
        </p:nvPicPr>
        <p:blipFill>
          <a:blip r:embed="rId2"/>
          <a:stretch/>
        </p:blipFill>
        <p:spPr>
          <a:xfrm>
            <a:off x="6355080" y="196596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Text 6"/>
          <p:cNvSpPr/>
          <p:nvPr/>
        </p:nvSpPr>
        <p:spPr>
          <a:xfrm>
            <a:off x="6949440" y="1984320"/>
            <a:ext cx="41140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Volgende keer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7"/>
          <p:cNvSpPr/>
          <p:nvPr/>
        </p:nvSpPr>
        <p:spPr>
          <a:xfrm>
            <a:off x="6400800" y="2560320"/>
            <a:ext cx="493704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cadcdc"/>
                </a:solidFill>
                <a:effectLst/>
                <a:uFillTx/>
                <a:latin typeface="Calibri"/>
                <a:ea typeface="Calibri"/>
              </a:rPr>
              <a:t>Avond 2 duiken we dieper: repeaters en roomservers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8"/>
          <p:cNvSpPr/>
          <p:nvPr/>
        </p:nvSpPr>
        <p:spPr>
          <a:xfrm>
            <a:off x="6400800" y="3931920"/>
            <a:ext cx="4892040" cy="360"/>
          </a:xfrm>
          <a:prstGeom prst="line">
            <a:avLst/>
          </a:prstGeom>
          <a:ln w="12700">
            <a:solidFill>
              <a:srgbClr val="2a60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9"/>
          <p:cNvSpPr/>
          <p:nvPr/>
        </p:nvSpPr>
        <p:spPr>
          <a:xfrm>
            <a:off x="6400800" y="4114800"/>
            <a:ext cx="4891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Vragen?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0"/>
          <p:cNvSpPr/>
          <p:nvPr/>
        </p:nvSpPr>
        <p:spPr>
          <a:xfrm>
            <a:off x="6400800" y="4480560"/>
            <a:ext cx="4891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1"/>
          <p:cNvSpPr/>
          <p:nvPr/>
        </p:nvSpPr>
        <p:spPr>
          <a:xfrm>
            <a:off x="457200" y="65106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cadcdc"/>
                </a:solidFill>
                <a:effectLst/>
                <a:uFillTx/>
                <a:latin typeface="Calibri"/>
                <a:ea typeface="Calibri"/>
              </a:rPr>
              <a:t>MeshCore Avond 1,  Introductie &amp; Eerste Verbinding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2"/>
          <p:cNvSpPr/>
          <p:nvPr/>
        </p:nvSpPr>
        <p:spPr>
          <a:xfrm>
            <a:off x="11521440" y="651060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cadcdc"/>
                </a:solidFill>
                <a:effectLst/>
                <a:uFillTx/>
                <a:latin typeface="Calibri"/>
                <a:ea typeface="Calibri"/>
              </a:rPr>
              <a:t>9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LibreOffice/25.2.7.2$Windows_X86_64 LibreOffice_project/5cbfd1ab6520636bb5f7b99185aa69bd7456825d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2026-09-04T11:16:45Z</dcterms:created>
  <dc:creator>PptxGenJS</dc:creator>
  <dc:description/>
  <dc:language>en-US</dc:language>
  <cp:lastModifiedBy/>
  <dcterms:modified xsi:type="dcterms:W3CDTF">2026-09-20T13:51:59Z</dcterms:modified>
  <cp:revision>8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